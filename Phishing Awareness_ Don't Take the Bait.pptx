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6256000" cy="9144000"/>
  <p:notesSz cx="9144000" cy="16256000"/>
  <p:embeddedFontLst>
    <p:embeddedFont>
      <p:font typeface="Liter" charset="-122" pitchFamily="34"/>
      <p:regular r:id="rId25"/>
    </p:embeddedFont>
    <p:embeddedFont>
      <p:font typeface="Quattrocento Sans" charset="-122" pitchFamily="34"/>
      <p:regular r:id="rId26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openxmlformats.org/officeDocument/2006/relationships/font" Target="fonts/font1.fntdata"/><Relationship Id="rId26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esedsl.com/en/blog/summary-overview-and-evolution-of-phishing-2024-2025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esedsl.com/en/blog/summary-overview-and-evolution-of-phishing-2024-2025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hyperlink" Target="https://powerdmarc.com/famous-data-breach-phishing-examples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cyber.gc.ca/en/guidance/dont-take-bait-recognize-and-avoid-phishing-attacks" TargetMode="External"/><Relationship Id="rId2" Type="http://schemas.openxmlformats.org/officeDocument/2006/relationships/hyperlink" Target="https://support.microsoft.com/en-us/security/protect-yourself-from-phishing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ambyjsecdlbwi/mnt/agents/output/phishing-awareness/images/1_46_554_Cyber_Silhouette_Royalty_Free.png">    </p:cNvPr>
          <p:cNvPicPr>
            <a:picLocks noChangeAspect="1"/>
          </p:cNvPicPr>
          <p:nvPr/>
        </p:nvPicPr>
        <p:blipFill>
          <a:blip r:embed="rId1"/>
          <a:srcRect l="5556" r="5556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A1A2E">
                  <a:alpha val="25000"/>
                </a:srgbClr>
              </a:gs>
              <a:gs pos="40000">
                <a:srgbClr val="1A1A2E">
                  <a:alpha val="80000"/>
                </a:srgbClr>
              </a:gs>
              <a:gs pos="100000">
                <a:srgbClr val="1A1A2E">
                  <a:alpha val="94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778000" y="2794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spc="200" kern="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CYBERSECURITY TRAINING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778000" y="3302000"/>
            <a:ext cx="12700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sz="5600" spc="6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PHISHING</a:t>
            </a:r>
            <a:endParaRPr lang="en-US" sz="5200" dirty="0"/>
          </a:p>
          <a:p>
            <a:pPr>
              <a:lnSpc>
                <a:spcPct val="120000"/>
              </a:lnSpc>
            </a:pPr>
            <a:r>
              <a:rPr lang="en-US" sz="5600" spc="6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AWARENESS</a:t>
            </a:r>
            <a:endParaRPr lang="en-US" sz="5200" dirty="0"/>
          </a:p>
        </p:txBody>
      </p:sp>
      <p:sp>
        <p:nvSpPr>
          <p:cNvPr id="6" name="Shape 3"/>
          <p:cNvSpPr/>
          <p:nvPr/>
        </p:nvSpPr>
        <p:spPr>
          <a:xfrm>
            <a:off x="1778000" y="5270500"/>
            <a:ext cx="1016000" cy="508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7" name="Text 4"/>
          <p:cNvSpPr/>
          <p:nvPr/>
        </p:nvSpPr>
        <p:spPr>
          <a:xfrm>
            <a:off x="1778000" y="5524500"/>
            <a:ext cx="889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rgbClr val="FFFFFF">
                    <a:alpha val="8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Recognize, Understand, and Protect Yourself from Cyber Threats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1778000" y="6731000"/>
            <a:ext cx="2794000" cy="508000"/>
          </a:xfrm>
          <a:prstGeom prst="roundRect">
            <a:avLst>
              <a:gd name="adj" fmla="val 8000"/>
            </a:avLst>
          </a:prstGeom>
          <a:solidFill>
            <a:srgbClr val="0D7377"/>
          </a:solidFill>
          <a:ln/>
        </p:spPr>
      </p:sp>
      <p:sp>
        <p:nvSpPr>
          <p:cNvPr id="9" name="Text 6"/>
          <p:cNvSpPr/>
          <p:nvPr/>
        </p:nvSpPr>
        <p:spPr>
          <a:xfrm>
            <a:off x="1778000" y="6731000"/>
            <a:ext cx="279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DON'T TAKE THE BAIT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350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spc="200" kern="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OVERVIEW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62000" y="1016000"/>
            <a:ext cx="635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6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778000"/>
            <a:ext cx="762000" cy="508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2286000"/>
            <a:ext cx="4572000" cy="2667000"/>
          </a:xfrm>
          <a:prstGeom prst="rect">
            <a:avLst/>
          </a:prstGeom>
          <a:solidFill>
            <a:srgbClr val="E8E8E3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2476500"/>
            <a:ext cx="127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16000" y="3175000"/>
            <a:ext cx="406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Understanding Phishing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3619500"/>
            <a:ext cx="406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anatomy of a digital deception and the scale of the threat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842000" y="2286000"/>
            <a:ext cx="4572000" cy="2667000"/>
          </a:xfrm>
          <a:prstGeom prst="rect">
            <a:avLst/>
          </a:prstGeom>
          <a:solidFill>
            <a:srgbClr val="E8E8E3"/>
          </a:solidFill>
          <a:ln/>
        </p:spPr>
      </p:sp>
      <p:sp>
        <p:nvSpPr>
          <p:cNvPr id="10" name="Text 8"/>
          <p:cNvSpPr/>
          <p:nvPr/>
        </p:nvSpPr>
        <p:spPr>
          <a:xfrm>
            <a:off x="6096000" y="2476500"/>
            <a:ext cx="127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096000" y="3175000"/>
            <a:ext cx="406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Recognizing the Threats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096000" y="3619500"/>
            <a:ext cx="406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Spot red flags in emails and fake websites before you click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922000" y="2286000"/>
            <a:ext cx="4572000" cy="2667000"/>
          </a:xfrm>
          <a:prstGeom prst="rect">
            <a:avLst/>
          </a:prstGeom>
          <a:solidFill>
            <a:srgbClr val="E8E8E3"/>
          </a:solidFill>
          <a:ln/>
        </p:spPr>
      </p:sp>
      <p:sp>
        <p:nvSpPr>
          <p:cNvPr id="14" name="Text 12"/>
          <p:cNvSpPr/>
          <p:nvPr/>
        </p:nvSpPr>
        <p:spPr>
          <a:xfrm>
            <a:off x="11176000" y="2476500"/>
            <a:ext cx="127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176000" y="3175000"/>
            <a:ext cx="406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Social Engineering Tactics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176000" y="3619500"/>
            <a:ext cx="406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How attackers hack your mind, not your software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2000" y="5461000"/>
            <a:ext cx="4572000" cy="2667000"/>
          </a:xfrm>
          <a:prstGeom prst="rect">
            <a:avLst/>
          </a:prstGeom>
          <a:solidFill>
            <a:srgbClr val="E8E8E3"/>
          </a:solidFill>
          <a:ln/>
        </p:spPr>
      </p:sp>
      <p:sp>
        <p:nvSpPr>
          <p:cNvPr id="18" name="Text 16"/>
          <p:cNvSpPr/>
          <p:nvPr/>
        </p:nvSpPr>
        <p:spPr>
          <a:xfrm>
            <a:off x="1016000" y="5651500"/>
            <a:ext cx="127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16000" y="6350000"/>
            <a:ext cx="406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Real-World Examples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16000" y="6794500"/>
            <a:ext cx="406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Lessons from major breaches across industries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842000" y="5461000"/>
            <a:ext cx="4572000" cy="2667000"/>
          </a:xfrm>
          <a:prstGeom prst="rect">
            <a:avLst/>
          </a:prstGeom>
          <a:solidFill>
            <a:srgbClr val="E8E8E3"/>
          </a:solidFill>
          <a:ln/>
        </p:spPr>
      </p:sp>
      <p:sp>
        <p:nvSpPr>
          <p:cNvPr id="22" name="Text 20"/>
          <p:cNvSpPr/>
          <p:nvPr/>
        </p:nvSpPr>
        <p:spPr>
          <a:xfrm>
            <a:off x="6096000" y="5651500"/>
            <a:ext cx="127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096000" y="6350000"/>
            <a:ext cx="406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Protection &amp; Best Practices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096000" y="6794500"/>
            <a:ext cx="406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Build your personal defense system and know how to respond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4986000" y="8636000"/>
            <a:ext cx="76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4A556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02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ambyjsecdlbwi/mnt/agents/output/phishing-awareness/images/10_30_997_Scam_Background_Royalty_Free.png">    </p:cNvPr>
          <p:cNvPicPr>
            <a:picLocks noChangeAspect="1"/>
          </p:cNvPicPr>
          <p:nvPr/>
        </p:nvPicPr>
        <p:blipFill>
          <a:blip r:embed="rId1"/>
          <a:srcRect l="2137" r="2137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A1A2E">
                  <a:alpha val="38000"/>
                </a:srgbClr>
              </a:gs>
              <a:gs pos="50000">
                <a:srgbClr val="1A1A2E">
                  <a:alpha val="80000"/>
                </a:srgbClr>
              </a:gs>
              <a:gs pos="100000">
                <a:srgbClr val="1A1A2E">
                  <a:alpha val="94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2000" y="1524000"/>
            <a:ext cx="5080000" cy="254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0" dirty="0">
                <a:solidFill>
                  <a:srgbClr val="FFFFFF">
                    <a:alpha val="15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762000" y="43180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spc="200" kern="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 ONE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62000" y="4762500"/>
            <a:ext cx="1016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4800" spc="4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UNDERSTANDING PHISHING</a:t>
            </a:r>
            <a:endParaRPr lang="en-US" sz="5200" dirty="0"/>
          </a:p>
        </p:txBody>
      </p:sp>
      <p:sp>
        <p:nvSpPr>
          <p:cNvPr id="7" name="Shape 4"/>
          <p:cNvSpPr/>
          <p:nvPr/>
        </p:nvSpPr>
        <p:spPr>
          <a:xfrm>
            <a:off x="762000" y="5842000"/>
            <a:ext cx="1016000" cy="508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8" name="Text 5"/>
          <p:cNvSpPr/>
          <p:nvPr/>
        </p:nvSpPr>
        <p:spPr>
          <a:xfrm>
            <a:off x="762000" y="60960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FFFFFF">
                    <a:alpha val="8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anatomy of a digital deception</a:t>
            </a:r>
            <a:endParaRPr lang="en-US" sz="22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800" cy="91440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571500"/>
            <a:ext cx="1143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Is Phishing?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270000"/>
            <a:ext cx="635000" cy="381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587500"/>
            <a:ext cx="7366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Phishing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is a cyberattack where attackers impersonate trusted entities to steal sensitive information like passwords, credit cards, or personal data.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It remains the </a:t>
            </a:r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E85D4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#1 global cyberattack vector</a:t>
            </a:r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 Attackers use emails, fake websites, SMS (</a:t>
            </a:r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smishing</a:t>
            </a:r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), voice calls (</a:t>
            </a:r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vishing</a:t>
            </a:r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), and social media to deceive victims.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goal is simple: trick you into clicking a malicious link, opening an infected attachment, or sharing confidential information.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636000" y="1587500"/>
            <a:ext cx="6858000" cy="1524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7" name="Text 5"/>
          <p:cNvSpPr/>
          <p:nvPr/>
        </p:nvSpPr>
        <p:spPr>
          <a:xfrm>
            <a:off x="8890000" y="1714500"/>
            <a:ext cx="635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2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1.13M+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890000" y="2476500"/>
            <a:ext cx="635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phishing attacks per quarter in 2025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636000" y="3365500"/>
            <a:ext cx="6858000" cy="1524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0" name="Text 8"/>
          <p:cNvSpPr/>
          <p:nvPr/>
        </p:nvSpPr>
        <p:spPr>
          <a:xfrm>
            <a:off x="8890000" y="3492500"/>
            <a:ext cx="635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200" dirty="0">
                <a:solidFill>
                  <a:srgbClr val="E85D4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37%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890000" y="4254500"/>
            <a:ext cx="635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of global breaches begin with phishing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62000" y="5334000"/>
            <a:ext cx="7366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4A556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Source: </a:t>
            </a:r>
            <a:pPr>
              <a:lnSpc>
                <a:spcPct val="140000"/>
              </a:lnSpc>
            </a:pPr>
            <a:r>
              <a:rPr lang="en-US" sz="1400" u="sng" dirty="0">
                <a:solidFill>
                  <a:srgbClr val="4A556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  <a:hlinkClick r:id="rId1" tooltip="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ESED Phishing Report 2024-2025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62000" y="59055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ATTACK CHANNELS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2000" y="6540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2863" y="57150"/>
                </a:moveTo>
                <a:cubicBezTo>
                  <a:pt x="19199" y="57150"/>
                  <a:pt x="0" y="76349"/>
                  <a:pt x="0" y="100013"/>
                </a:cubicBezTo>
                <a:cubicBezTo>
                  <a:pt x="0" y="113496"/>
                  <a:pt x="6340" y="126176"/>
                  <a:pt x="17145" y="134303"/>
                </a:cubicBezTo>
                <a:lnTo>
                  <a:pt x="202883" y="273606"/>
                </a:lnTo>
                <a:cubicBezTo>
                  <a:pt x="218152" y="285036"/>
                  <a:pt x="239048" y="285036"/>
                  <a:pt x="254318" y="273606"/>
                </a:cubicBezTo>
                <a:lnTo>
                  <a:pt x="440055" y="134302"/>
                </a:lnTo>
                <a:cubicBezTo>
                  <a:pt x="450860" y="126176"/>
                  <a:pt x="457200" y="113496"/>
                  <a:pt x="457200" y="100012"/>
                </a:cubicBezTo>
                <a:cubicBezTo>
                  <a:pt x="457200" y="76349"/>
                  <a:pt x="438001" y="57150"/>
                  <a:pt x="414338" y="57150"/>
                </a:cubicBezTo>
                <a:lnTo>
                  <a:pt x="42863" y="57150"/>
                </a:lnTo>
                <a:close/>
                <a:moveTo>
                  <a:pt x="0" y="175022"/>
                </a:moveTo>
                <a:lnTo>
                  <a:pt x="0" y="342900"/>
                </a:lnTo>
                <a:cubicBezTo>
                  <a:pt x="0" y="374422"/>
                  <a:pt x="25628" y="400050"/>
                  <a:pt x="57150" y="400050"/>
                </a:cubicBezTo>
                <a:lnTo>
                  <a:pt x="400050" y="400050"/>
                </a:lnTo>
                <a:cubicBezTo>
                  <a:pt x="431572" y="400050"/>
                  <a:pt x="457200" y="374422"/>
                  <a:pt x="457200" y="342900"/>
                </a:cubicBezTo>
                <a:lnTo>
                  <a:pt x="457200" y="175022"/>
                </a:lnTo>
                <a:lnTo>
                  <a:pt x="280035" y="307896"/>
                </a:lnTo>
                <a:cubicBezTo>
                  <a:pt x="249585" y="330756"/>
                  <a:pt x="207615" y="330756"/>
                  <a:pt x="177165" y="307896"/>
                </a:cubicBezTo>
                <a:lnTo>
                  <a:pt x="0" y="175022"/>
                </a:lnTo>
                <a:close/>
              </a:path>
            </a:pathLst>
          </a:custGeom>
          <a:solidFill>
            <a:srgbClr val="0D7377"/>
          </a:solidFill>
          <a:ln/>
        </p:spPr>
      </p:sp>
      <p:sp>
        <p:nvSpPr>
          <p:cNvPr id="15" name="Text 13"/>
          <p:cNvSpPr/>
          <p:nvPr/>
        </p:nvSpPr>
        <p:spPr>
          <a:xfrm>
            <a:off x="1397000" y="6540500"/>
            <a:ext cx="2286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Email Phishing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937000" y="6540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428625"/>
                </a:moveTo>
                <a:cubicBezTo>
                  <a:pt x="354866" y="428625"/>
                  <a:pt x="457200" y="332631"/>
                  <a:pt x="457200" y="214313"/>
                </a:cubicBezTo>
                <a:cubicBezTo>
                  <a:pt x="457200" y="95994"/>
                  <a:pt x="354866" y="0"/>
                  <a:pt x="228600" y="0"/>
                </a:cubicBezTo>
                <a:cubicBezTo>
                  <a:pt x="102334" y="0"/>
                  <a:pt x="0" y="95994"/>
                  <a:pt x="0" y="214313"/>
                </a:cubicBezTo>
                <a:cubicBezTo>
                  <a:pt x="0" y="262801"/>
                  <a:pt x="17145" y="307449"/>
                  <a:pt x="46077" y="343346"/>
                </a:cubicBezTo>
                <a:lnTo>
                  <a:pt x="2500" y="425768"/>
                </a:lnTo>
                <a:cubicBezTo>
                  <a:pt x="-1786" y="433804"/>
                  <a:pt x="-446" y="443627"/>
                  <a:pt x="5715" y="450324"/>
                </a:cubicBezTo>
                <a:cubicBezTo>
                  <a:pt x="11876" y="457021"/>
                  <a:pt x="21610" y="459075"/>
                  <a:pt x="29914" y="455503"/>
                </a:cubicBezTo>
                <a:lnTo>
                  <a:pt x="135642" y="410230"/>
                </a:lnTo>
                <a:cubicBezTo>
                  <a:pt x="164038" y="422017"/>
                  <a:pt x="195471" y="428625"/>
                  <a:pt x="228600" y="428625"/>
                </a:cubicBezTo>
                <a:close/>
                <a:moveTo>
                  <a:pt x="125730" y="154305"/>
                </a:moveTo>
                <a:lnTo>
                  <a:pt x="142875" y="154305"/>
                </a:lnTo>
                <a:cubicBezTo>
                  <a:pt x="150733" y="154305"/>
                  <a:pt x="157163" y="160734"/>
                  <a:pt x="157163" y="168593"/>
                </a:cubicBezTo>
                <a:cubicBezTo>
                  <a:pt x="157163" y="176451"/>
                  <a:pt x="150733" y="182880"/>
                  <a:pt x="142875" y="182880"/>
                </a:cubicBezTo>
                <a:lnTo>
                  <a:pt x="125730" y="182880"/>
                </a:lnTo>
                <a:cubicBezTo>
                  <a:pt x="120997" y="182880"/>
                  <a:pt x="117158" y="186720"/>
                  <a:pt x="117158" y="191453"/>
                </a:cubicBezTo>
                <a:cubicBezTo>
                  <a:pt x="117158" y="196185"/>
                  <a:pt x="120997" y="200025"/>
                  <a:pt x="125730" y="200025"/>
                </a:cubicBezTo>
                <a:cubicBezTo>
                  <a:pt x="146268" y="200025"/>
                  <a:pt x="162877" y="216634"/>
                  <a:pt x="162877" y="237173"/>
                </a:cubicBezTo>
                <a:cubicBezTo>
                  <a:pt x="162877" y="257711"/>
                  <a:pt x="146268" y="274320"/>
                  <a:pt x="125730" y="274320"/>
                </a:cubicBezTo>
                <a:lnTo>
                  <a:pt x="102870" y="274320"/>
                </a:lnTo>
                <a:cubicBezTo>
                  <a:pt x="95012" y="274320"/>
                  <a:pt x="88583" y="267891"/>
                  <a:pt x="88583" y="260033"/>
                </a:cubicBezTo>
                <a:cubicBezTo>
                  <a:pt x="88583" y="252174"/>
                  <a:pt x="95012" y="245745"/>
                  <a:pt x="102870" y="245745"/>
                </a:cubicBezTo>
                <a:lnTo>
                  <a:pt x="125730" y="245745"/>
                </a:lnTo>
                <a:cubicBezTo>
                  <a:pt x="130463" y="245745"/>
                  <a:pt x="134303" y="241905"/>
                  <a:pt x="134303" y="237173"/>
                </a:cubicBezTo>
                <a:cubicBezTo>
                  <a:pt x="134303" y="232440"/>
                  <a:pt x="130463" y="228600"/>
                  <a:pt x="125730" y="228600"/>
                </a:cubicBezTo>
                <a:cubicBezTo>
                  <a:pt x="105192" y="228600"/>
                  <a:pt x="88583" y="211991"/>
                  <a:pt x="88583" y="191453"/>
                </a:cubicBezTo>
                <a:cubicBezTo>
                  <a:pt x="88583" y="170914"/>
                  <a:pt x="105192" y="154305"/>
                  <a:pt x="125730" y="154305"/>
                </a:cubicBezTo>
                <a:close/>
                <a:moveTo>
                  <a:pt x="294323" y="191453"/>
                </a:moveTo>
                <a:cubicBezTo>
                  <a:pt x="294323" y="170914"/>
                  <a:pt x="310932" y="154305"/>
                  <a:pt x="331470" y="154305"/>
                </a:cubicBezTo>
                <a:lnTo>
                  <a:pt x="348615" y="154305"/>
                </a:lnTo>
                <a:cubicBezTo>
                  <a:pt x="356473" y="154305"/>
                  <a:pt x="362903" y="160734"/>
                  <a:pt x="362903" y="168593"/>
                </a:cubicBezTo>
                <a:cubicBezTo>
                  <a:pt x="362903" y="176451"/>
                  <a:pt x="356473" y="182880"/>
                  <a:pt x="348615" y="182880"/>
                </a:cubicBezTo>
                <a:lnTo>
                  <a:pt x="331470" y="182880"/>
                </a:lnTo>
                <a:cubicBezTo>
                  <a:pt x="326737" y="182880"/>
                  <a:pt x="322898" y="186720"/>
                  <a:pt x="322898" y="191453"/>
                </a:cubicBezTo>
                <a:cubicBezTo>
                  <a:pt x="322898" y="196185"/>
                  <a:pt x="326737" y="200025"/>
                  <a:pt x="331470" y="200025"/>
                </a:cubicBezTo>
                <a:cubicBezTo>
                  <a:pt x="352008" y="200025"/>
                  <a:pt x="368618" y="216634"/>
                  <a:pt x="368618" y="237173"/>
                </a:cubicBezTo>
                <a:cubicBezTo>
                  <a:pt x="368618" y="257711"/>
                  <a:pt x="352008" y="274320"/>
                  <a:pt x="331470" y="274320"/>
                </a:cubicBezTo>
                <a:lnTo>
                  <a:pt x="308610" y="274320"/>
                </a:lnTo>
                <a:cubicBezTo>
                  <a:pt x="300752" y="274320"/>
                  <a:pt x="294323" y="267891"/>
                  <a:pt x="294323" y="260033"/>
                </a:cubicBezTo>
                <a:cubicBezTo>
                  <a:pt x="294323" y="252174"/>
                  <a:pt x="300752" y="245745"/>
                  <a:pt x="308610" y="245745"/>
                </a:cubicBezTo>
                <a:lnTo>
                  <a:pt x="331470" y="245745"/>
                </a:lnTo>
                <a:cubicBezTo>
                  <a:pt x="336203" y="245745"/>
                  <a:pt x="340043" y="241905"/>
                  <a:pt x="340043" y="237173"/>
                </a:cubicBezTo>
                <a:cubicBezTo>
                  <a:pt x="340043" y="232440"/>
                  <a:pt x="336203" y="228600"/>
                  <a:pt x="331470" y="228600"/>
                </a:cubicBezTo>
                <a:cubicBezTo>
                  <a:pt x="310932" y="228600"/>
                  <a:pt x="294323" y="211991"/>
                  <a:pt x="294323" y="191453"/>
                </a:cubicBezTo>
                <a:close/>
                <a:moveTo>
                  <a:pt x="206544" y="161270"/>
                </a:moveTo>
                <a:lnTo>
                  <a:pt x="228600" y="197971"/>
                </a:lnTo>
                <a:lnTo>
                  <a:pt x="250656" y="161270"/>
                </a:lnTo>
                <a:cubicBezTo>
                  <a:pt x="253960" y="155734"/>
                  <a:pt x="260568" y="153144"/>
                  <a:pt x="266730" y="154841"/>
                </a:cubicBezTo>
                <a:cubicBezTo>
                  <a:pt x="272891" y="156537"/>
                  <a:pt x="277178" y="162163"/>
                  <a:pt x="277178" y="168593"/>
                </a:cubicBezTo>
                <a:lnTo>
                  <a:pt x="277178" y="260033"/>
                </a:lnTo>
                <a:cubicBezTo>
                  <a:pt x="277178" y="267891"/>
                  <a:pt x="270748" y="274320"/>
                  <a:pt x="262890" y="274320"/>
                </a:cubicBezTo>
                <a:cubicBezTo>
                  <a:pt x="255032" y="274320"/>
                  <a:pt x="248602" y="267891"/>
                  <a:pt x="248602" y="260033"/>
                </a:cubicBezTo>
                <a:lnTo>
                  <a:pt x="248602" y="220206"/>
                </a:lnTo>
                <a:lnTo>
                  <a:pt x="240834" y="233154"/>
                </a:lnTo>
                <a:cubicBezTo>
                  <a:pt x="238244" y="237440"/>
                  <a:pt x="233601" y="240119"/>
                  <a:pt x="228600" y="240119"/>
                </a:cubicBezTo>
                <a:cubicBezTo>
                  <a:pt x="223599" y="240119"/>
                  <a:pt x="218956" y="237440"/>
                  <a:pt x="216366" y="233154"/>
                </a:cubicBezTo>
                <a:lnTo>
                  <a:pt x="208598" y="220206"/>
                </a:lnTo>
                <a:lnTo>
                  <a:pt x="208598" y="260033"/>
                </a:lnTo>
                <a:cubicBezTo>
                  <a:pt x="208598" y="267891"/>
                  <a:pt x="202168" y="274320"/>
                  <a:pt x="194310" y="274320"/>
                </a:cubicBezTo>
                <a:cubicBezTo>
                  <a:pt x="186452" y="274320"/>
                  <a:pt x="180023" y="267891"/>
                  <a:pt x="180023" y="260033"/>
                </a:cubicBezTo>
                <a:lnTo>
                  <a:pt x="180023" y="168593"/>
                </a:lnTo>
                <a:cubicBezTo>
                  <a:pt x="180023" y="162163"/>
                  <a:pt x="184309" y="156537"/>
                  <a:pt x="190470" y="154841"/>
                </a:cubicBezTo>
                <a:cubicBezTo>
                  <a:pt x="196632" y="153144"/>
                  <a:pt x="203240" y="155734"/>
                  <a:pt x="206544" y="161270"/>
                </a:cubicBezTo>
                <a:close/>
              </a:path>
            </a:pathLst>
          </a:custGeom>
          <a:solidFill>
            <a:srgbClr val="0D7377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6540500"/>
            <a:ext cx="177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Smishing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604000" y="6540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43054" y="22324"/>
                </a:moveTo>
                <a:cubicBezTo>
                  <a:pt x="135999" y="5447"/>
                  <a:pt x="117604" y="-3483"/>
                  <a:pt x="100102" y="1250"/>
                </a:cubicBezTo>
                <a:lnTo>
                  <a:pt x="95190" y="2590"/>
                </a:lnTo>
                <a:cubicBezTo>
                  <a:pt x="37505" y="18306"/>
                  <a:pt x="-11787" y="74206"/>
                  <a:pt x="2590" y="142250"/>
                </a:cubicBezTo>
                <a:cubicBezTo>
                  <a:pt x="35719" y="298519"/>
                  <a:pt x="158681" y="421481"/>
                  <a:pt x="314950" y="454610"/>
                </a:cubicBezTo>
                <a:cubicBezTo>
                  <a:pt x="383084" y="469076"/>
                  <a:pt x="438894" y="419695"/>
                  <a:pt x="454610" y="362010"/>
                </a:cubicBezTo>
                <a:lnTo>
                  <a:pt x="455950" y="357098"/>
                </a:lnTo>
                <a:cubicBezTo>
                  <a:pt x="460772" y="339507"/>
                  <a:pt x="451753" y="321112"/>
                  <a:pt x="434965" y="314146"/>
                </a:cubicBezTo>
                <a:lnTo>
                  <a:pt x="348079" y="277981"/>
                </a:lnTo>
                <a:cubicBezTo>
                  <a:pt x="333345" y="271820"/>
                  <a:pt x="316290" y="276106"/>
                  <a:pt x="306110" y="288518"/>
                </a:cubicBezTo>
                <a:lnTo>
                  <a:pt x="271641" y="330666"/>
                </a:lnTo>
                <a:cubicBezTo>
                  <a:pt x="208865" y="299502"/>
                  <a:pt x="158323" y="247352"/>
                  <a:pt x="129302" y="183326"/>
                </a:cubicBezTo>
                <a:lnTo>
                  <a:pt x="168771" y="151180"/>
                </a:lnTo>
                <a:cubicBezTo>
                  <a:pt x="181183" y="141089"/>
                  <a:pt x="185380" y="124033"/>
                  <a:pt x="179308" y="109210"/>
                </a:cubicBezTo>
                <a:lnTo>
                  <a:pt x="143054" y="22324"/>
                </a:lnTo>
                <a:close/>
              </a:path>
            </a:pathLst>
          </a:custGeom>
          <a:solidFill>
            <a:srgbClr val="0D7377"/>
          </a:solidFill>
          <a:ln/>
        </p:spPr>
      </p:sp>
      <p:sp>
        <p:nvSpPr>
          <p:cNvPr id="19" name="Text 17"/>
          <p:cNvSpPr/>
          <p:nvPr/>
        </p:nvSpPr>
        <p:spPr>
          <a:xfrm>
            <a:off x="7239000" y="6540500"/>
            <a:ext cx="1778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Vishing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271000" y="6540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14236" y="250031"/>
                </a:moveTo>
                <a:lnTo>
                  <a:pt x="143768" y="250031"/>
                </a:lnTo>
                <a:cubicBezTo>
                  <a:pt x="146358" y="307628"/>
                  <a:pt x="159127" y="360670"/>
                  <a:pt x="177254" y="399514"/>
                </a:cubicBezTo>
                <a:cubicBezTo>
                  <a:pt x="187434" y="421392"/>
                  <a:pt x="198418" y="436840"/>
                  <a:pt x="208597" y="446306"/>
                </a:cubicBezTo>
                <a:cubicBezTo>
                  <a:pt x="218599" y="455682"/>
                  <a:pt x="225475" y="457200"/>
                  <a:pt x="229046" y="457200"/>
                </a:cubicBezTo>
                <a:cubicBezTo>
                  <a:pt x="232618" y="457200"/>
                  <a:pt x="239494" y="455682"/>
                  <a:pt x="249495" y="446306"/>
                </a:cubicBezTo>
                <a:cubicBezTo>
                  <a:pt x="259675" y="436840"/>
                  <a:pt x="270659" y="421303"/>
                  <a:pt x="280839" y="399514"/>
                </a:cubicBezTo>
                <a:cubicBezTo>
                  <a:pt x="298966" y="360670"/>
                  <a:pt x="311735" y="307628"/>
                  <a:pt x="314325" y="250031"/>
                </a:cubicBezTo>
                <a:close/>
                <a:moveTo>
                  <a:pt x="143679" y="207169"/>
                </a:moveTo>
                <a:lnTo>
                  <a:pt x="314146" y="207169"/>
                </a:lnTo>
                <a:cubicBezTo>
                  <a:pt x="311646" y="149572"/>
                  <a:pt x="298877" y="96530"/>
                  <a:pt x="280749" y="57686"/>
                </a:cubicBezTo>
                <a:cubicBezTo>
                  <a:pt x="270570" y="35897"/>
                  <a:pt x="259586" y="20360"/>
                  <a:pt x="249406" y="10894"/>
                </a:cubicBezTo>
                <a:cubicBezTo>
                  <a:pt x="239405" y="1518"/>
                  <a:pt x="232529" y="0"/>
                  <a:pt x="228957" y="0"/>
                </a:cubicBezTo>
                <a:cubicBezTo>
                  <a:pt x="225385" y="0"/>
                  <a:pt x="218509" y="1518"/>
                  <a:pt x="208508" y="10894"/>
                </a:cubicBezTo>
                <a:cubicBezTo>
                  <a:pt x="198328" y="20360"/>
                  <a:pt x="187345" y="35897"/>
                  <a:pt x="177165" y="57686"/>
                </a:cubicBezTo>
                <a:cubicBezTo>
                  <a:pt x="159038" y="96530"/>
                  <a:pt x="146268" y="149572"/>
                  <a:pt x="143679" y="207169"/>
                </a:cubicBezTo>
                <a:close/>
                <a:moveTo>
                  <a:pt x="100816" y="207169"/>
                </a:moveTo>
                <a:cubicBezTo>
                  <a:pt x="103942" y="130731"/>
                  <a:pt x="123676" y="59740"/>
                  <a:pt x="152519" y="13127"/>
                </a:cubicBezTo>
                <a:cubicBezTo>
                  <a:pt x="70277" y="42237"/>
                  <a:pt x="9733" y="117157"/>
                  <a:pt x="1339" y="207169"/>
                </a:cubicBezTo>
                <a:lnTo>
                  <a:pt x="100816" y="207169"/>
                </a:lnTo>
                <a:close/>
                <a:moveTo>
                  <a:pt x="1339" y="250031"/>
                </a:moveTo>
                <a:cubicBezTo>
                  <a:pt x="9733" y="340043"/>
                  <a:pt x="70277" y="414963"/>
                  <a:pt x="152519" y="444073"/>
                </a:cubicBezTo>
                <a:cubicBezTo>
                  <a:pt x="123676" y="397460"/>
                  <a:pt x="103942" y="326469"/>
                  <a:pt x="100816" y="250031"/>
                </a:cubicBezTo>
                <a:lnTo>
                  <a:pt x="1339" y="250031"/>
                </a:lnTo>
                <a:close/>
                <a:moveTo>
                  <a:pt x="357098" y="250031"/>
                </a:moveTo>
                <a:cubicBezTo>
                  <a:pt x="353973" y="326469"/>
                  <a:pt x="334238" y="397460"/>
                  <a:pt x="305395" y="444073"/>
                </a:cubicBezTo>
                <a:cubicBezTo>
                  <a:pt x="387638" y="414873"/>
                  <a:pt x="448181" y="340043"/>
                  <a:pt x="456575" y="250031"/>
                </a:cubicBezTo>
                <a:lnTo>
                  <a:pt x="357098" y="250031"/>
                </a:lnTo>
                <a:close/>
                <a:moveTo>
                  <a:pt x="456575" y="207169"/>
                </a:moveTo>
                <a:cubicBezTo>
                  <a:pt x="448181" y="117157"/>
                  <a:pt x="387638" y="42237"/>
                  <a:pt x="305395" y="13127"/>
                </a:cubicBezTo>
                <a:cubicBezTo>
                  <a:pt x="334238" y="59740"/>
                  <a:pt x="353973" y="130731"/>
                  <a:pt x="357098" y="207169"/>
                </a:cubicBezTo>
                <a:lnTo>
                  <a:pt x="456575" y="207169"/>
                </a:lnTo>
                <a:close/>
              </a:path>
            </a:pathLst>
          </a:custGeom>
          <a:solidFill>
            <a:srgbClr val="0D7377"/>
          </a:solidFill>
          <a:ln/>
        </p:spPr>
      </p:sp>
      <p:sp>
        <p:nvSpPr>
          <p:cNvPr id="21" name="Text 19"/>
          <p:cNvSpPr/>
          <p:nvPr/>
        </p:nvSpPr>
        <p:spPr>
          <a:xfrm>
            <a:off x="9906000" y="6540500"/>
            <a:ext cx="2286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Fake Websites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2446000" y="6540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42900" y="171450"/>
                </a:moveTo>
                <a:cubicBezTo>
                  <a:pt x="390227" y="171450"/>
                  <a:pt x="428625" y="133052"/>
                  <a:pt x="428625" y="85725"/>
                </a:cubicBezTo>
                <a:cubicBezTo>
                  <a:pt x="428625" y="38398"/>
                  <a:pt x="390227" y="0"/>
                  <a:pt x="342900" y="0"/>
                </a:cubicBezTo>
                <a:cubicBezTo>
                  <a:pt x="295573" y="0"/>
                  <a:pt x="257175" y="38398"/>
                  <a:pt x="257175" y="85725"/>
                </a:cubicBezTo>
                <a:cubicBezTo>
                  <a:pt x="257175" y="90547"/>
                  <a:pt x="257621" y="95369"/>
                  <a:pt x="258336" y="100013"/>
                </a:cubicBezTo>
                <a:lnTo>
                  <a:pt x="142518" y="164396"/>
                </a:lnTo>
                <a:cubicBezTo>
                  <a:pt x="127427" y="151001"/>
                  <a:pt x="107513" y="142875"/>
                  <a:pt x="85725" y="142875"/>
                </a:cubicBezTo>
                <a:cubicBezTo>
                  <a:pt x="38398" y="142875"/>
                  <a:pt x="0" y="181273"/>
                  <a:pt x="0" y="228600"/>
                </a:cubicBezTo>
                <a:cubicBezTo>
                  <a:pt x="0" y="275927"/>
                  <a:pt x="38398" y="314325"/>
                  <a:pt x="85725" y="314325"/>
                </a:cubicBezTo>
                <a:cubicBezTo>
                  <a:pt x="107513" y="314325"/>
                  <a:pt x="127337" y="306199"/>
                  <a:pt x="142518" y="292804"/>
                </a:cubicBezTo>
                <a:lnTo>
                  <a:pt x="258336" y="357188"/>
                </a:lnTo>
                <a:cubicBezTo>
                  <a:pt x="257532" y="361831"/>
                  <a:pt x="257175" y="366564"/>
                  <a:pt x="257175" y="371475"/>
                </a:cubicBezTo>
                <a:cubicBezTo>
                  <a:pt x="257175" y="418802"/>
                  <a:pt x="295573" y="457200"/>
                  <a:pt x="342900" y="457200"/>
                </a:cubicBezTo>
                <a:cubicBezTo>
                  <a:pt x="390227" y="457200"/>
                  <a:pt x="428625" y="418802"/>
                  <a:pt x="428625" y="371475"/>
                </a:cubicBezTo>
                <a:cubicBezTo>
                  <a:pt x="428625" y="324148"/>
                  <a:pt x="390227" y="285750"/>
                  <a:pt x="342900" y="285750"/>
                </a:cubicBezTo>
                <a:cubicBezTo>
                  <a:pt x="321112" y="285750"/>
                  <a:pt x="301288" y="293876"/>
                  <a:pt x="286107" y="307271"/>
                </a:cubicBezTo>
                <a:lnTo>
                  <a:pt x="170289" y="242888"/>
                </a:lnTo>
                <a:cubicBezTo>
                  <a:pt x="171093" y="238244"/>
                  <a:pt x="171450" y="233511"/>
                  <a:pt x="171450" y="228600"/>
                </a:cubicBezTo>
                <a:cubicBezTo>
                  <a:pt x="171450" y="223689"/>
                  <a:pt x="171004" y="218956"/>
                  <a:pt x="170289" y="214313"/>
                </a:cubicBezTo>
                <a:lnTo>
                  <a:pt x="286107" y="149929"/>
                </a:lnTo>
                <a:cubicBezTo>
                  <a:pt x="301198" y="163324"/>
                  <a:pt x="321112" y="171450"/>
                  <a:pt x="342900" y="171450"/>
                </a:cubicBezTo>
                <a:close/>
              </a:path>
            </a:pathLst>
          </a:custGeom>
          <a:solidFill>
            <a:srgbClr val="0D7377"/>
          </a:solidFill>
          <a:ln/>
        </p:spPr>
      </p:sp>
      <p:sp>
        <p:nvSpPr>
          <p:cNvPr id="23" name="Text 21"/>
          <p:cNvSpPr/>
          <p:nvPr/>
        </p:nvSpPr>
        <p:spPr>
          <a:xfrm>
            <a:off x="13081000" y="6540500"/>
            <a:ext cx="254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Social Media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4986000" y="8636000"/>
            <a:ext cx="76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4A556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04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800" cy="91440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571500"/>
            <a:ext cx="1143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Evolution of Phishing Attacks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270000"/>
            <a:ext cx="635000" cy="381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524000"/>
            <a:ext cx="14732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Phishing is no longer just poorly written emails. In 2025, attacks have become more sophisticated, leveraging AI and new channels to bypass defenses.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62000" y="2476500"/>
            <a:ext cx="4572000" cy="2794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7" name="Shape 5"/>
          <p:cNvSpPr/>
          <p:nvPr/>
        </p:nvSpPr>
        <p:spPr>
          <a:xfrm>
            <a:off x="965200" y="2730500"/>
            <a:ext cx="508000" cy="406400"/>
          </a:xfrm>
          <a:custGeom>
            <a:avLst/>
            <a:gdLst/>
            <a:ahLst/>
            <a:cxnLst/>
            <a:rect l="l" t="t" r="r" b="b"/>
            <a:pathLst>
              <a:path w="508000" h="406400">
                <a:moveTo>
                  <a:pt x="279400" y="0"/>
                </a:moveTo>
                <a:cubicBezTo>
                  <a:pt x="279400" y="-14049"/>
                  <a:pt x="268049" y="-25400"/>
                  <a:pt x="254000" y="-25400"/>
                </a:cubicBezTo>
                <a:cubicBezTo>
                  <a:pt x="239951" y="-25400"/>
                  <a:pt x="228600" y="-14049"/>
                  <a:pt x="228600" y="0"/>
                </a:cubicBezTo>
                <a:lnTo>
                  <a:pt x="228600" y="50800"/>
                </a:lnTo>
                <a:lnTo>
                  <a:pt x="152400" y="50800"/>
                </a:lnTo>
                <a:cubicBezTo>
                  <a:pt x="110331" y="50800"/>
                  <a:pt x="76200" y="84931"/>
                  <a:pt x="76200" y="127000"/>
                </a:cubicBezTo>
                <a:lnTo>
                  <a:pt x="76200" y="304800"/>
                </a:lnTo>
                <a:cubicBezTo>
                  <a:pt x="76200" y="346869"/>
                  <a:pt x="110331" y="381000"/>
                  <a:pt x="152400" y="381000"/>
                </a:cubicBezTo>
                <a:lnTo>
                  <a:pt x="355600" y="381000"/>
                </a:lnTo>
                <a:cubicBezTo>
                  <a:pt x="397669" y="381000"/>
                  <a:pt x="431800" y="346869"/>
                  <a:pt x="431800" y="304800"/>
                </a:cubicBezTo>
                <a:lnTo>
                  <a:pt x="431800" y="127000"/>
                </a:lnTo>
                <a:cubicBezTo>
                  <a:pt x="431800" y="84931"/>
                  <a:pt x="397669" y="50800"/>
                  <a:pt x="355600" y="50800"/>
                </a:cubicBezTo>
                <a:lnTo>
                  <a:pt x="279400" y="50800"/>
                </a:lnTo>
                <a:lnTo>
                  <a:pt x="279400" y="0"/>
                </a:lnTo>
                <a:close/>
                <a:moveTo>
                  <a:pt x="127000" y="292100"/>
                </a:moveTo>
                <a:cubicBezTo>
                  <a:pt x="127000" y="281543"/>
                  <a:pt x="135493" y="273050"/>
                  <a:pt x="146050" y="273050"/>
                </a:cubicBezTo>
                <a:lnTo>
                  <a:pt x="171450" y="273050"/>
                </a:lnTo>
                <a:cubicBezTo>
                  <a:pt x="182007" y="273050"/>
                  <a:pt x="190500" y="281543"/>
                  <a:pt x="190500" y="292100"/>
                </a:cubicBezTo>
                <a:cubicBezTo>
                  <a:pt x="190500" y="302657"/>
                  <a:pt x="182007" y="311150"/>
                  <a:pt x="171450" y="311150"/>
                </a:cubicBezTo>
                <a:lnTo>
                  <a:pt x="146050" y="311150"/>
                </a:lnTo>
                <a:cubicBezTo>
                  <a:pt x="135493" y="311150"/>
                  <a:pt x="127000" y="302657"/>
                  <a:pt x="127000" y="292100"/>
                </a:cubicBezTo>
                <a:close/>
                <a:moveTo>
                  <a:pt x="222250" y="292100"/>
                </a:moveTo>
                <a:cubicBezTo>
                  <a:pt x="222250" y="281543"/>
                  <a:pt x="230743" y="273050"/>
                  <a:pt x="241300" y="273050"/>
                </a:cubicBezTo>
                <a:lnTo>
                  <a:pt x="266700" y="273050"/>
                </a:lnTo>
                <a:cubicBezTo>
                  <a:pt x="277257" y="273050"/>
                  <a:pt x="285750" y="281543"/>
                  <a:pt x="285750" y="292100"/>
                </a:cubicBezTo>
                <a:cubicBezTo>
                  <a:pt x="285750" y="302657"/>
                  <a:pt x="277257" y="311150"/>
                  <a:pt x="266700" y="311150"/>
                </a:cubicBezTo>
                <a:lnTo>
                  <a:pt x="241300" y="311150"/>
                </a:lnTo>
                <a:cubicBezTo>
                  <a:pt x="230743" y="311150"/>
                  <a:pt x="222250" y="302657"/>
                  <a:pt x="222250" y="292100"/>
                </a:cubicBezTo>
                <a:close/>
                <a:moveTo>
                  <a:pt x="317500" y="292100"/>
                </a:moveTo>
                <a:cubicBezTo>
                  <a:pt x="317500" y="281543"/>
                  <a:pt x="325993" y="273050"/>
                  <a:pt x="336550" y="273050"/>
                </a:cubicBezTo>
                <a:lnTo>
                  <a:pt x="361950" y="273050"/>
                </a:lnTo>
                <a:cubicBezTo>
                  <a:pt x="372507" y="273050"/>
                  <a:pt x="381000" y="281543"/>
                  <a:pt x="381000" y="292100"/>
                </a:cubicBezTo>
                <a:cubicBezTo>
                  <a:pt x="381000" y="302657"/>
                  <a:pt x="372507" y="311150"/>
                  <a:pt x="361950" y="311150"/>
                </a:cubicBezTo>
                <a:lnTo>
                  <a:pt x="336550" y="311150"/>
                </a:lnTo>
                <a:cubicBezTo>
                  <a:pt x="325993" y="311150"/>
                  <a:pt x="317500" y="302657"/>
                  <a:pt x="317500" y="292100"/>
                </a:cubicBezTo>
                <a:close/>
                <a:moveTo>
                  <a:pt x="177800" y="139700"/>
                </a:moveTo>
                <a:cubicBezTo>
                  <a:pt x="198828" y="139700"/>
                  <a:pt x="215900" y="156772"/>
                  <a:pt x="215900" y="177800"/>
                </a:cubicBezTo>
                <a:cubicBezTo>
                  <a:pt x="215900" y="198828"/>
                  <a:pt x="198828" y="215900"/>
                  <a:pt x="177800" y="215900"/>
                </a:cubicBezTo>
                <a:cubicBezTo>
                  <a:pt x="156772" y="215900"/>
                  <a:pt x="139700" y="198828"/>
                  <a:pt x="139700" y="177800"/>
                </a:cubicBezTo>
                <a:cubicBezTo>
                  <a:pt x="139700" y="156772"/>
                  <a:pt x="156772" y="139700"/>
                  <a:pt x="177800" y="139700"/>
                </a:cubicBezTo>
                <a:close/>
                <a:moveTo>
                  <a:pt x="292100" y="177800"/>
                </a:moveTo>
                <a:cubicBezTo>
                  <a:pt x="292100" y="156772"/>
                  <a:pt x="309172" y="139700"/>
                  <a:pt x="330200" y="139700"/>
                </a:cubicBezTo>
                <a:cubicBezTo>
                  <a:pt x="351228" y="139700"/>
                  <a:pt x="368300" y="156772"/>
                  <a:pt x="368300" y="177800"/>
                </a:cubicBezTo>
                <a:cubicBezTo>
                  <a:pt x="368300" y="198828"/>
                  <a:pt x="351228" y="215900"/>
                  <a:pt x="330200" y="215900"/>
                </a:cubicBezTo>
                <a:cubicBezTo>
                  <a:pt x="309172" y="215900"/>
                  <a:pt x="292100" y="198828"/>
                  <a:pt x="292100" y="177800"/>
                </a:cubicBezTo>
                <a:close/>
                <a:moveTo>
                  <a:pt x="50800" y="177800"/>
                </a:moveTo>
                <a:cubicBezTo>
                  <a:pt x="50800" y="163751"/>
                  <a:pt x="39449" y="152400"/>
                  <a:pt x="25400" y="152400"/>
                </a:cubicBezTo>
                <a:cubicBezTo>
                  <a:pt x="11351" y="152400"/>
                  <a:pt x="0" y="163751"/>
                  <a:pt x="0" y="177800"/>
                </a:cubicBezTo>
                <a:lnTo>
                  <a:pt x="0" y="254000"/>
                </a:lnTo>
                <a:cubicBezTo>
                  <a:pt x="0" y="268049"/>
                  <a:pt x="11351" y="279400"/>
                  <a:pt x="25400" y="279400"/>
                </a:cubicBezTo>
                <a:cubicBezTo>
                  <a:pt x="39449" y="279400"/>
                  <a:pt x="50800" y="268049"/>
                  <a:pt x="50800" y="254000"/>
                </a:cubicBezTo>
                <a:lnTo>
                  <a:pt x="50800" y="177800"/>
                </a:lnTo>
                <a:close/>
                <a:moveTo>
                  <a:pt x="482600" y="152400"/>
                </a:moveTo>
                <a:cubicBezTo>
                  <a:pt x="468551" y="152400"/>
                  <a:pt x="457200" y="163751"/>
                  <a:pt x="457200" y="177800"/>
                </a:cubicBezTo>
                <a:lnTo>
                  <a:pt x="457200" y="254000"/>
                </a:lnTo>
                <a:cubicBezTo>
                  <a:pt x="457200" y="268049"/>
                  <a:pt x="468551" y="279400"/>
                  <a:pt x="482600" y="279400"/>
                </a:cubicBezTo>
                <a:cubicBezTo>
                  <a:pt x="496649" y="279400"/>
                  <a:pt x="508000" y="268049"/>
                  <a:pt x="508000" y="254000"/>
                </a:cubicBezTo>
                <a:lnTo>
                  <a:pt x="508000" y="177800"/>
                </a:lnTo>
                <a:cubicBezTo>
                  <a:pt x="508000" y="163751"/>
                  <a:pt x="496649" y="152400"/>
                  <a:pt x="482600" y="152400"/>
                </a:cubicBezTo>
                <a:close/>
              </a:path>
            </a:pathLst>
          </a:custGeom>
          <a:solidFill>
            <a:srgbClr val="E85D4E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3302000"/>
            <a:ext cx="406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AI-Generated Phishing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6000" y="3810000"/>
            <a:ext cx="4064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AI-generated content increased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22%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year-over-year, creating more realistic and polished scam messages.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842000" y="2476500"/>
            <a:ext cx="4572000" cy="2794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1" name="Shape 9"/>
          <p:cNvSpPr/>
          <p:nvPr/>
        </p:nvSpPr>
        <p:spPr>
          <a:xfrm>
            <a:off x="6096000" y="2730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cubicBezTo>
                  <a:pt x="206851" y="0"/>
                  <a:pt x="210503" y="794"/>
                  <a:pt x="213836" y="2302"/>
                </a:cubicBezTo>
                <a:lnTo>
                  <a:pt x="363379" y="65723"/>
                </a:lnTo>
                <a:cubicBezTo>
                  <a:pt x="380841" y="73104"/>
                  <a:pt x="393859" y="90329"/>
                  <a:pt x="393779" y="111125"/>
                </a:cubicBezTo>
                <a:cubicBezTo>
                  <a:pt x="393383" y="189865"/>
                  <a:pt x="360998" y="333931"/>
                  <a:pt x="224234" y="399415"/>
                </a:cubicBezTo>
                <a:cubicBezTo>
                  <a:pt x="210979" y="405765"/>
                  <a:pt x="195580" y="405765"/>
                  <a:pt x="182324" y="399415"/>
                </a:cubicBezTo>
                <a:cubicBezTo>
                  <a:pt x="45482" y="333931"/>
                  <a:pt x="13176" y="189865"/>
                  <a:pt x="12779" y="111125"/>
                </a:cubicBezTo>
                <a:cubicBezTo>
                  <a:pt x="12700" y="90329"/>
                  <a:pt x="25717" y="73104"/>
                  <a:pt x="43180" y="65723"/>
                </a:cubicBezTo>
                <a:lnTo>
                  <a:pt x="192643" y="2302"/>
                </a:lnTo>
                <a:cubicBezTo>
                  <a:pt x="195977" y="794"/>
                  <a:pt x="199549" y="0"/>
                  <a:pt x="203200" y="0"/>
                </a:cubicBezTo>
                <a:close/>
                <a:moveTo>
                  <a:pt x="203200" y="53022"/>
                </a:moveTo>
                <a:lnTo>
                  <a:pt x="203200" y="353139"/>
                </a:lnTo>
                <a:cubicBezTo>
                  <a:pt x="312738" y="300117"/>
                  <a:pt x="342186" y="182642"/>
                  <a:pt x="342900" y="112316"/>
                </a:cubicBezTo>
                <a:lnTo>
                  <a:pt x="203200" y="53102"/>
                </a:lnTo>
                <a:lnTo>
                  <a:pt x="203200" y="53102"/>
                </a:lnTo>
                <a:close/>
              </a:path>
            </a:pathLst>
          </a:custGeom>
          <a:solidFill>
            <a:srgbClr val="E85D4E"/>
          </a:solidFill>
          <a:ln/>
        </p:spPr>
      </p:sp>
      <p:sp>
        <p:nvSpPr>
          <p:cNvPr id="12" name="Text 10"/>
          <p:cNvSpPr/>
          <p:nvPr/>
        </p:nvSpPr>
        <p:spPr>
          <a:xfrm>
            <a:off x="6096000" y="3302000"/>
            <a:ext cx="406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MFA Bypass Attacks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096000" y="3810000"/>
            <a:ext cx="4064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15%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of credential theft attacks now incorporate mechanisms resistant to multi-factor authentication.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922000" y="2476500"/>
            <a:ext cx="4572000" cy="2794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5" name="Shape 13"/>
          <p:cNvSpPr/>
          <p:nvPr/>
        </p:nvSpPr>
        <p:spPr>
          <a:xfrm>
            <a:off x="11226800" y="2730500"/>
            <a:ext cx="304800" cy="406400"/>
          </a:xfrm>
          <a:custGeom>
            <a:avLst/>
            <a:gdLst/>
            <a:ahLst/>
            <a:cxnLst/>
            <a:rect l="l" t="t" r="r" b="b"/>
            <a:pathLst>
              <a:path w="304800" h="406400">
                <a:moveTo>
                  <a:pt x="12700" y="50800"/>
                </a:moveTo>
                <a:cubicBezTo>
                  <a:pt x="12700" y="22781"/>
                  <a:pt x="35481" y="0"/>
                  <a:pt x="63500" y="0"/>
                </a:cubicBezTo>
                <a:lnTo>
                  <a:pt x="241300" y="0"/>
                </a:lnTo>
                <a:cubicBezTo>
                  <a:pt x="269319" y="0"/>
                  <a:pt x="292100" y="22781"/>
                  <a:pt x="292100" y="50800"/>
                </a:cubicBezTo>
                <a:lnTo>
                  <a:pt x="292100" y="355600"/>
                </a:lnTo>
                <a:cubicBezTo>
                  <a:pt x="292100" y="383619"/>
                  <a:pt x="269319" y="406400"/>
                  <a:pt x="241300" y="406400"/>
                </a:cubicBezTo>
                <a:lnTo>
                  <a:pt x="63500" y="406400"/>
                </a:lnTo>
                <a:cubicBezTo>
                  <a:pt x="35481" y="406400"/>
                  <a:pt x="12700" y="383619"/>
                  <a:pt x="12700" y="355600"/>
                </a:cubicBezTo>
                <a:lnTo>
                  <a:pt x="12700" y="50800"/>
                </a:lnTo>
                <a:close/>
                <a:moveTo>
                  <a:pt x="101600" y="349250"/>
                </a:moveTo>
                <a:cubicBezTo>
                  <a:pt x="101600" y="359807"/>
                  <a:pt x="110093" y="368300"/>
                  <a:pt x="120650" y="368300"/>
                </a:cubicBezTo>
                <a:lnTo>
                  <a:pt x="184150" y="368300"/>
                </a:lnTo>
                <a:cubicBezTo>
                  <a:pt x="194707" y="368300"/>
                  <a:pt x="203200" y="359807"/>
                  <a:pt x="203200" y="349250"/>
                </a:cubicBezTo>
                <a:cubicBezTo>
                  <a:pt x="203200" y="338693"/>
                  <a:pt x="194707" y="330200"/>
                  <a:pt x="184150" y="330200"/>
                </a:cubicBezTo>
                <a:lnTo>
                  <a:pt x="120650" y="330200"/>
                </a:lnTo>
                <a:cubicBezTo>
                  <a:pt x="110093" y="330200"/>
                  <a:pt x="101600" y="338693"/>
                  <a:pt x="101600" y="349250"/>
                </a:cubicBezTo>
                <a:close/>
                <a:moveTo>
                  <a:pt x="241300" y="50800"/>
                </a:moveTo>
                <a:lnTo>
                  <a:pt x="63500" y="50800"/>
                </a:lnTo>
                <a:lnTo>
                  <a:pt x="63500" y="292100"/>
                </a:lnTo>
                <a:lnTo>
                  <a:pt x="241300" y="292100"/>
                </a:lnTo>
                <a:lnTo>
                  <a:pt x="241300" y="50800"/>
                </a:lnTo>
                <a:close/>
              </a:path>
            </a:pathLst>
          </a:custGeom>
          <a:solidFill>
            <a:srgbClr val="E85D4E"/>
          </a:solidFill>
          <a:ln/>
        </p:spPr>
      </p:sp>
      <p:sp>
        <p:nvSpPr>
          <p:cNvPr id="16" name="Text 14"/>
          <p:cNvSpPr/>
          <p:nvPr/>
        </p:nvSpPr>
        <p:spPr>
          <a:xfrm>
            <a:off x="11176000" y="3302000"/>
            <a:ext cx="406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Smishing &amp; Vishing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176000" y="3810000"/>
            <a:ext cx="4064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19%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of breaches now come from SMS and voice-based attacks, beyond traditional email.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62000" y="5651500"/>
            <a:ext cx="7112000" cy="2540000"/>
          </a:xfrm>
          <a:prstGeom prst="rect">
            <a:avLst/>
          </a:prstGeom>
          <a:solidFill>
            <a:srgbClr val="E8E8E3"/>
          </a:solidFill>
          <a:ln/>
        </p:spPr>
      </p:sp>
      <p:sp>
        <p:nvSpPr>
          <p:cNvPr id="19" name="Shape 17"/>
          <p:cNvSpPr/>
          <p:nvPr/>
        </p:nvSpPr>
        <p:spPr>
          <a:xfrm>
            <a:off x="990600" y="59055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-3969" y="93663"/>
                </a:moveTo>
                <a:lnTo>
                  <a:pt x="18653" y="222012"/>
                </a:lnTo>
                <a:cubicBezTo>
                  <a:pt x="29766" y="285115"/>
                  <a:pt x="79216" y="334566"/>
                  <a:pt x="142319" y="345678"/>
                </a:cubicBezTo>
                <a:lnTo>
                  <a:pt x="152400" y="347424"/>
                </a:lnTo>
                <a:cubicBezTo>
                  <a:pt x="139303" y="324723"/>
                  <a:pt x="130889" y="299244"/>
                  <a:pt x="128111" y="272415"/>
                </a:cubicBezTo>
                <a:lnTo>
                  <a:pt x="108982" y="275828"/>
                </a:lnTo>
                <a:cubicBezTo>
                  <a:pt x="101283" y="277178"/>
                  <a:pt x="94059" y="271224"/>
                  <a:pt x="95568" y="263525"/>
                </a:cubicBezTo>
                <a:cubicBezTo>
                  <a:pt x="99378" y="243919"/>
                  <a:pt x="110728" y="226536"/>
                  <a:pt x="127079" y="215186"/>
                </a:cubicBezTo>
                <a:lnTo>
                  <a:pt x="127079" y="155972"/>
                </a:lnTo>
                <a:cubicBezTo>
                  <a:pt x="125968" y="156607"/>
                  <a:pt x="124698" y="157004"/>
                  <a:pt x="123349" y="157242"/>
                </a:cubicBezTo>
                <a:lnTo>
                  <a:pt x="73343" y="166053"/>
                </a:lnTo>
                <a:cubicBezTo>
                  <a:pt x="66437" y="167243"/>
                  <a:pt x="59611" y="162560"/>
                  <a:pt x="60722" y="155654"/>
                </a:cubicBezTo>
                <a:cubicBezTo>
                  <a:pt x="63183" y="140097"/>
                  <a:pt x="75327" y="127079"/>
                  <a:pt x="91758" y="124143"/>
                </a:cubicBezTo>
                <a:cubicBezTo>
                  <a:pt x="105410" y="121761"/>
                  <a:pt x="118666" y="126921"/>
                  <a:pt x="127159" y="136684"/>
                </a:cubicBezTo>
                <a:lnTo>
                  <a:pt x="127159" y="118666"/>
                </a:lnTo>
                <a:cubicBezTo>
                  <a:pt x="127159" y="100806"/>
                  <a:pt x="132636" y="77073"/>
                  <a:pt x="152797" y="60404"/>
                </a:cubicBezTo>
                <a:cubicBezTo>
                  <a:pt x="173434" y="43339"/>
                  <a:pt x="206534" y="25559"/>
                  <a:pt x="251936" y="17383"/>
                </a:cubicBezTo>
                <a:cubicBezTo>
                  <a:pt x="227727" y="4445"/>
                  <a:pt x="183436" y="-8017"/>
                  <a:pt x="121920" y="2778"/>
                </a:cubicBezTo>
                <a:cubicBezTo>
                  <a:pt x="58182" y="14049"/>
                  <a:pt x="20320" y="42545"/>
                  <a:pt x="2778" y="63183"/>
                </a:cubicBezTo>
                <a:cubicBezTo>
                  <a:pt x="-4366" y="71517"/>
                  <a:pt x="-5794" y="82947"/>
                  <a:pt x="-3889" y="93742"/>
                </a:cubicBezTo>
                <a:close/>
                <a:moveTo>
                  <a:pt x="165100" y="110093"/>
                </a:moveTo>
                <a:lnTo>
                  <a:pt x="165100" y="248841"/>
                </a:lnTo>
                <a:cubicBezTo>
                  <a:pt x="165100" y="312896"/>
                  <a:pt x="205184" y="370205"/>
                  <a:pt x="265430" y="392033"/>
                </a:cubicBezTo>
                <a:lnTo>
                  <a:pt x="287417" y="400050"/>
                </a:lnTo>
                <a:cubicBezTo>
                  <a:pt x="298609" y="404098"/>
                  <a:pt x="310912" y="404098"/>
                  <a:pt x="322104" y="400050"/>
                </a:cubicBezTo>
                <a:lnTo>
                  <a:pt x="344170" y="392113"/>
                </a:lnTo>
                <a:cubicBezTo>
                  <a:pt x="404416" y="370205"/>
                  <a:pt x="444500" y="312976"/>
                  <a:pt x="444500" y="248841"/>
                </a:cubicBezTo>
                <a:lnTo>
                  <a:pt x="444500" y="110093"/>
                </a:lnTo>
                <a:cubicBezTo>
                  <a:pt x="444500" y="104616"/>
                  <a:pt x="442833" y="99139"/>
                  <a:pt x="438944" y="95329"/>
                </a:cubicBezTo>
                <a:cubicBezTo>
                  <a:pt x="421005" y="77470"/>
                  <a:pt x="376873" y="50879"/>
                  <a:pt x="304800" y="50879"/>
                </a:cubicBezTo>
                <a:cubicBezTo>
                  <a:pt x="232727" y="50879"/>
                  <a:pt x="188595" y="77549"/>
                  <a:pt x="170656" y="95329"/>
                </a:cubicBezTo>
                <a:cubicBezTo>
                  <a:pt x="166767" y="99219"/>
                  <a:pt x="165100" y="104616"/>
                  <a:pt x="165100" y="110093"/>
                </a:cubicBezTo>
                <a:close/>
                <a:moveTo>
                  <a:pt x="217567" y="258604"/>
                </a:moveTo>
                <a:cubicBezTo>
                  <a:pt x="216456" y="253047"/>
                  <a:pt x="223123" y="249872"/>
                  <a:pt x="227648" y="253365"/>
                </a:cubicBezTo>
                <a:cubicBezTo>
                  <a:pt x="248999" y="269716"/>
                  <a:pt x="275749" y="279479"/>
                  <a:pt x="304800" y="279479"/>
                </a:cubicBezTo>
                <a:cubicBezTo>
                  <a:pt x="333851" y="279479"/>
                  <a:pt x="360521" y="269716"/>
                  <a:pt x="381953" y="253365"/>
                </a:cubicBezTo>
                <a:cubicBezTo>
                  <a:pt x="386477" y="249872"/>
                  <a:pt x="393144" y="253047"/>
                  <a:pt x="392033" y="258604"/>
                </a:cubicBezTo>
                <a:cubicBezTo>
                  <a:pt x="384016" y="299402"/>
                  <a:pt x="347980" y="330279"/>
                  <a:pt x="304800" y="330279"/>
                </a:cubicBezTo>
                <a:cubicBezTo>
                  <a:pt x="261620" y="330279"/>
                  <a:pt x="225584" y="299482"/>
                  <a:pt x="217567" y="258604"/>
                </a:cubicBezTo>
                <a:close/>
                <a:moveTo>
                  <a:pt x="217964" y="178038"/>
                </a:moveTo>
                <a:cubicBezTo>
                  <a:pt x="223203" y="163116"/>
                  <a:pt x="237331" y="152400"/>
                  <a:pt x="254000" y="152400"/>
                </a:cubicBezTo>
                <a:cubicBezTo>
                  <a:pt x="270669" y="152400"/>
                  <a:pt x="284877" y="163116"/>
                  <a:pt x="290036" y="178038"/>
                </a:cubicBezTo>
                <a:cubicBezTo>
                  <a:pt x="292338" y="184706"/>
                  <a:pt x="286464" y="190500"/>
                  <a:pt x="279400" y="190500"/>
                </a:cubicBezTo>
                <a:lnTo>
                  <a:pt x="228600" y="190500"/>
                </a:lnTo>
                <a:cubicBezTo>
                  <a:pt x="221615" y="190500"/>
                  <a:pt x="215662" y="184626"/>
                  <a:pt x="217964" y="178038"/>
                </a:cubicBezTo>
                <a:close/>
                <a:moveTo>
                  <a:pt x="381000" y="190500"/>
                </a:moveTo>
                <a:lnTo>
                  <a:pt x="330200" y="190500"/>
                </a:lnTo>
                <a:cubicBezTo>
                  <a:pt x="323215" y="190500"/>
                  <a:pt x="317262" y="184626"/>
                  <a:pt x="319564" y="178038"/>
                </a:cubicBezTo>
                <a:cubicBezTo>
                  <a:pt x="324723" y="163116"/>
                  <a:pt x="338931" y="152400"/>
                  <a:pt x="355600" y="152400"/>
                </a:cubicBezTo>
                <a:cubicBezTo>
                  <a:pt x="372269" y="152400"/>
                  <a:pt x="386477" y="163116"/>
                  <a:pt x="391636" y="178038"/>
                </a:cubicBezTo>
                <a:cubicBezTo>
                  <a:pt x="393938" y="184706"/>
                  <a:pt x="388064" y="190500"/>
                  <a:pt x="381000" y="190500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20" name="Text 18"/>
          <p:cNvSpPr/>
          <p:nvPr/>
        </p:nvSpPr>
        <p:spPr>
          <a:xfrm>
            <a:off x="1016000" y="6477000"/>
            <a:ext cx="660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Deepfakes &amp; Voice Cloning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16000" y="6985000"/>
            <a:ext cx="6604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AI-generated video and voice deepfakes are emerging as powerful tools for executive impersonation and fraud.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382000" y="5651500"/>
            <a:ext cx="7112000" cy="2540000"/>
          </a:xfrm>
          <a:prstGeom prst="rect">
            <a:avLst/>
          </a:prstGeom>
          <a:solidFill>
            <a:srgbClr val="E8E8E3"/>
          </a:solidFill>
          <a:ln/>
        </p:spPr>
      </p:sp>
      <p:sp>
        <p:nvSpPr>
          <p:cNvPr id="23" name="Shape 21"/>
          <p:cNvSpPr/>
          <p:nvPr/>
        </p:nvSpPr>
        <p:spPr>
          <a:xfrm>
            <a:off x="8585200" y="5905500"/>
            <a:ext cx="508000" cy="406400"/>
          </a:xfrm>
          <a:custGeom>
            <a:avLst/>
            <a:gdLst/>
            <a:ahLst/>
            <a:cxnLst/>
            <a:rect l="l" t="t" r="r" b="b"/>
            <a:pathLst>
              <a:path w="508000" h="406400">
                <a:moveTo>
                  <a:pt x="19050" y="-12700"/>
                </a:moveTo>
                <a:cubicBezTo>
                  <a:pt x="8493" y="-12700"/>
                  <a:pt x="0" y="-4207"/>
                  <a:pt x="0" y="6350"/>
                </a:cubicBezTo>
                <a:cubicBezTo>
                  <a:pt x="0" y="16907"/>
                  <a:pt x="8493" y="25400"/>
                  <a:pt x="19050" y="25400"/>
                </a:cubicBezTo>
                <a:lnTo>
                  <a:pt x="55007" y="25400"/>
                </a:lnTo>
                <a:cubicBezTo>
                  <a:pt x="58103" y="25400"/>
                  <a:pt x="60722" y="27622"/>
                  <a:pt x="61278" y="30639"/>
                </a:cubicBezTo>
                <a:lnTo>
                  <a:pt x="102632" y="257889"/>
                </a:lnTo>
                <a:cubicBezTo>
                  <a:pt x="107553" y="285036"/>
                  <a:pt x="131207" y="304800"/>
                  <a:pt x="158829" y="304800"/>
                </a:cubicBezTo>
                <a:lnTo>
                  <a:pt x="361950" y="304800"/>
                </a:lnTo>
                <a:cubicBezTo>
                  <a:pt x="372507" y="304800"/>
                  <a:pt x="381000" y="296307"/>
                  <a:pt x="381000" y="285750"/>
                </a:cubicBezTo>
                <a:cubicBezTo>
                  <a:pt x="381000" y="275193"/>
                  <a:pt x="372507" y="266700"/>
                  <a:pt x="361950" y="266700"/>
                </a:cubicBezTo>
                <a:lnTo>
                  <a:pt x="158829" y="266700"/>
                </a:lnTo>
                <a:cubicBezTo>
                  <a:pt x="149622" y="266700"/>
                  <a:pt x="141764" y="260112"/>
                  <a:pt x="140097" y="251063"/>
                </a:cubicBezTo>
                <a:lnTo>
                  <a:pt x="136049" y="228600"/>
                </a:lnTo>
                <a:lnTo>
                  <a:pt x="377031" y="228600"/>
                </a:lnTo>
                <a:cubicBezTo>
                  <a:pt x="401479" y="228600"/>
                  <a:pt x="422434" y="211217"/>
                  <a:pt x="426958" y="187166"/>
                </a:cubicBezTo>
                <a:lnTo>
                  <a:pt x="451564" y="55483"/>
                </a:lnTo>
                <a:cubicBezTo>
                  <a:pt x="454501" y="39846"/>
                  <a:pt x="442516" y="25400"/>
                  <a:pt x="426561" y="25400"/>
                </a:cubicBezTo>
                <a:lnTo>
                  <a:pt x="98981" y="25400"/>
                </a:lnTo>
                <a:lnTo>
                  <a:pt x="98663" y="23813"/>
                </a:lnTo>
                <a:cubicBezTo>
                  <a:pt x="94853" y="2699"/>
                  <a:pt x="76438" y="-12700"/>
                  <a:pt x="54927" y="-12700"/>
                </a:cubicBezTo>
                <a:lnTo>
                  <a:pt x="19050" y="-12700"/>
                </a:lnTo>
                <a:close/>
                <a:moveTo>
                  <a:pt x="165100" y="406400"/>
                </a:moveTo>
                <a:cubicBezTo>
                  <a:pt x="186128" y="406400"/>
                  <a:pt x="203200" y="389328"/>
                  <a:pt x="203200" y="368300"/>
                </a:cubicBezTo>
                <a:cubicBezTo>
                  <a:pt x="203200" y="347272"/>
                  <a:pt x="186128" y="330200"/>
                  <a:pt x="165100" y="330200"/>
                </a:cubicBezTo>
                <a:cubicBezTo>
                  <a:pt x="144072" y="330200"/>
                  <a:pt x="127000" y="347272"/>
                  <a:pt x="127000" y="368300"/>
                </a:cubicBezTo>
                <a:cubicBezTo>
                  <a:pt x="127000" y="389328"/>
                  <a:pt x="144072" y="406400"/>
                  <a:pt x="165100" y="406400"/>
                </a:cubicBezTo>
                <a:close/>
                <a:moveTo>
                  <a:pt x="342900" y="406400"/>
                </a:moveTo>
                <a:cubicBezTo>
                  <a:pt x="363928" y="406400"/>
                  <a:pt x="381000" y="389328"/>
                  <a:pt x="381000" y="368300"/>
                </a:cubicBezTo>
                <a:cubicBezTo>
                  <a:pt x="381000" y="347272"/>
                  <a:pt x="363928" y="330200"/>
                  <a:pt x="342900" y="330200"/>
                </a:cubicBezTo>
                <a:cubicBezTo>
                  <a:pt x="321872" y="330200"/>
                  <a:pt x="304800" y="347272"/>
                  <a:pt x="304800" y="368300"/>
                </a:cubicBezTo>
                <a:cubicBezTo>
                  <a:pt x="304800" y="389328"/>
                  <a:pt x="321872" y="406400"/>
                  <a:pt x="342900" y="406400"/>
                </a:cubicBezTo>
                <a:close/>
              </a:path>
            </a:pathLst>
          </a:custGeom>
          <a:solidFill>
            <a:srgbClr val="D97706"/>
          </a:solidFill>
          <a:ln/>
        </p:spPr>
      </p:sp>
      <p:sp>
        <p:nvSpPr>
          <p:cNvPr id="24" name="Text 22"/>
          <p:cNvSpPr/>
          <p:nvPr/>
        </p:nvSpPr>
        <p:spPr>
          <a:xfrm>
            <a:off x="8636000" y="6477000"/>
            <a:ext cx="660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Phishing-as-a-Service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636000" y="6985000"/>
            <a:ext cx="6604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Criminals now rent phishing toolkits. Investment scams like "Nomani" rose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62%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64,000+ malicious URLs blocked.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62000" y="8445500"/>
            <a:ext cx="7620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4A556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Source: </a:t>
            </a:r>
            <a:pPr>
              <a:lnSpc>
                <a:spcPct val="140000"/>
              </a:lnSpc>
            </a:pPr>
            <a:r>
              <a:rPr lang="en-US" sz="1400" u="sng" dirty="0">
                <a:solidFill>
                  <a:srgbClr val="4A556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  <a:hlinkClick r:id="rId1" tooltip="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ESED Phishing Report 2024-2025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4986000" y="8636000"/>
            <a:ext cx="76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4A556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05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ambyjsecdlbwi/mnt/agents/output/phishing-awareness/images/8_Cyber_security_phishing_link_warning.png">    </p:cNvPr>
          <p:cNvPicPr>
            <a:picLocks noChangeAspect="1"/>
          </p:cNvPicPr>
          <p:nvPr/>
        </p:nvPicPr>
        <p:blipFill>
          <a:blip r:embed="rId1"/>
          <a:srcRect l="18" r="18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A1A2E">
                  <a:alpha val="38000"/>
                </a:srgbClr>
              </a:gs>
              <a:gs pos="50000">
                <a:srgbClr val="1A1A2E">
                  <a:alpha val="80000"/>
                </a:srgbClr>
              </a:gs>
              <a:gs pos="100000">
                <a:srgbClr val="1A1A2E">
                  <a:alpha val="94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2000" y="1524000"/>
            <a:ext cx="5080000" cy="254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0" dirty="0">
                <a:solidFill>
                  <a:srgbClr val="FFFFFF">
                    <a:alpha val="15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762000" y="43180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spc="200" kern="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 TWO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62000" y="4762500"/>
            <a:ext cx="1143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4800" spc="4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RECOGNIZING THE THREATS</a:t>
            </a:r>
            <a:endParaRPr lang="en-US" sz="5200" dirty="0"/>
          </a:p>
        </p:txBody>
      </p:sp>
      <p:sp>
        <p:nvSpPr>
          <p:cNvPr id="7" name="Shape 4"/>
          <p:cNvSpPr/>
          <p:nvPr/>
        </p:nvSpPr>
        <p:spPr>
          <a:xfrm>
            <a:off x="762000" y="5842000"/>
            <a:ext cx="1016000" cy="508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8" name="Text 5"/>
          <p:cNvSpPr/>
          <p:nvPr/>
        </p:nvSpPr>
        <p:spPr>
          <a:xfrm>
            <a:off x="762000" y="60960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FFFFFF">
                    <a:alpha val="8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Spot the red flags before you click</a:t>
            </a:r>
            <a:endParaRPr lang="en-US" sz="22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800" cy="91440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508000"/>
            <a:ext cx="1143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Top 10 Red Flags in Phishing Emails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206500"/>
            <a:ext cx="635000" cy="381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460500"/>
            <a:ext cx="7112000" cy="654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5000"/>
              </a:lnSpc>
            </a:pPr>
            <a:r>
              <a:rPr lang="en-US" sz="1700" b="1" dirty="0">
                <a:solidFill>
                  <a:srgbClr val="E85D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</a:t>
            </a:r>
            <a:pPr>
              <a:lnSpc>
                <a:spcPct val="155000"/>
              </a:lnSpc>
            </a:pPr>
            <a:r>
              <a:rPr lang="en-US" sz="17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55000"/>
              </a:lnSpc>
            </a:pPr>
            <a:r>
              <a:rPr lang="en-US" sz="17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Suspicious sender address</a:t>
            </a:r>
            <a:pPr>
              <a:lnSpc>
                <a:spcPct val="155000"/>
              </a:lnSpc>
            </a:pPr>
            <a:r>
              <a:rPr lang="en-US" sz="17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misspelled domains, unfamiliar senders, or generic webmail addresses</a:t>
            </a:r>
            <a:endParaRPr lang="en-US" sz="1600" dirty="0"/>
          </a:p>
          <a:p>
            <a:pPr>
              <a:lnSpc>
                <a:spcPct val="155000"/>
              </a:lnSpc>
              <a:spcBef>
                <a:spcPts val="800"/>
              </a:spcBef>
            </a:pPr>
            <a:r>
              <a:rPr lang="en-US" sz="1700" b="1" dirty="0">
                <a:solidFill>
                  <a:srgbClr val="E85D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</a:t>
            </a:r>
            <a:pPr>
              <a:lnSpc>
                <a:spcPct val="155000"/>
              </a:lnSpc>
              <a:spcBef>
                <a:spcPts val="800"/>
              </a:spcBef>
            </a:pPr>
            <a:r>
              <a:rPr lang="en-US" sz="17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55000"/>
              </a:lnSpc>
              <a:spcBef>
                <a:spcPts val="800"/>
              </a:spcBef>
            </a:pPr>
            <a:r>
              <a:rPr lang="en-US" sz="17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Urgent or threatening language</a:t>
            </a:r>
            <a:pPr>
              <a:lnSpc>
                <a:spcPct val="155000"/>
              </a:lnSpc>
              <a:spcBef>
                <a:spcPts val="800"/>
              </a:spcBef>
            </a:pPr>
            <a:r>
              <a:rPr lang="en-US" sz="17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"Account suspended," "Final warning," "Immediate action required"</a:t>
            </a:r>
            <a:endParaRPr lang="en-US" sz="1600" dirty="0"/>
          </a:p>
          <a:p>
            <a:pPr>
              <a:lnSpc>
                <a:spcPct val="155000"/>
              </a:lnSpc>
              <a:spcBef>
                <a:spcPts val="800"/>
              </a:spcBef>
            </a:pPr>
            <a:r>
              <a:rPr lang="en-US" sz="1700" b="1" dirty="0">
                <a:solidFill>
                  <a:srgbClr val="E85D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</a:t>
            </a:r>
            <a:pPr>
              <a:lnSpc>
                <a:spcPct val="155000"/>
              </a:lnSpc>
              <a:spcBef>
                <a:spcPts val="800"/>
              </a:spcBef>
            </a:pPr>
            <a:r>
              <a:rPr lang="en-US" sz="17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55000"/>
              </a:lnSpc>
              <a:spcBef>
                <a:spcPts val="800"/>
              </a:spcBef>
            </a:pPr>
            <a:r>
              <a:rPr lang="en-US" sz="17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Generic greetings</a:t>
            </a:r>
            <a:pPr>
              <a:lnSpc>
                <a:spcPct val="155000"/>
              </a:lnSpc>
              <a:spcBef>
                <a:spcPts val="800"/>
              </a:spcBef>
            </a:pPr>
            <a:r>
              <a:rPr lang="en-US" sz="17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"Dear Customer" instead of your name</a:t>
            </a:r>
            <a:endParaRPr lang="en-US" sz="1600" dirty="0"/>
          </a:p>
          <a:p>
            <a:pPr>
              <a:lnSpc>
                <a:spcPct val="155000"/>
              </a:lnSpc>
              <a:spcBef>
                <a:spcPts val="800"/>
              </a:spcBef>
            </a:pPr>
            <a:r>
              <a:rPr lang="en-US" sz="1700" b="1" dirty="0">
                <a:solidFill>
                  <a:srgbClr val="E85D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</a:t>
            </a:r>
            <a:pPr>
              <a:lnSpc>
                <a:spcPct val="155000"/>
              </a:lnSpc>
              <a:spcBef>
                <a:spcPts val="800"/>
              </a:spcBef>
            </a:pPr>
            <a:r>
              <a:rPr lang="en-US" sz="17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55000"/>
              </a:lnSpc>
              <a:spcBef>
                <a:spcPts val="800"/>
              </a:spcBef>
            </a:pPr>
            <a:r>
              <a:rPr lang="en-US" sz="17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Poor grammar and spelling</a:t>
            </a:r>
            <a:pPr>
              <a:lnSpc>
                <a:spcPct val="155000"/>
              </a:lnSpc>
              <a:spcBef>
                <a:spcPts val="800"/>
              </a:spcBef>
            </a:pPr>
            <a:r>
              <a:rPr lang="en-US" sz="17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awkward phrasing, machine-translated feel</a:t>
            </a:r>
            <a:endParaRPr lang="en-US" sz="1600" dirty="0"/>
          </a:p>
          <a:p>
            <a:pPr>
              <a:lnSpc>
                <a:spcPct val="155000"/>
              </a:lnSpc>
              <a:spcBef>
                <a:spcPts val="800"/>
              </a:spcBef>
            </a:pPr>
            <a:r>
              <a:rPr lang="en-US" sz="1700" b="1" dirty="0">
                <a:solidFill>
                  <a:srgbClr val="E85D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5.</a:t>
            </a:r>
            <a:pPr>
              <a:lnSpc>
                <a:spcPct val="155000"/>
              </a:lnSpc>
              <a:spcBef>
                <a:spcPts val="800"/>
              </a:spcBef>
            </a:pPr>
            <a:r>
              <a:rPr lang="en-US" sz="17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55000"/>
              </a:lnSpc>
              <a:spcBef>
                <a:spcPts val="800"/>
              </a:spcBef>
            </a:pPr>
            <a:r>
              <a:rPr lang="en-US" sz="17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Requests for sensitive info</a:t>
            </a:r>
            <a:pPr>
              <a:lnSpc>
                <a:spcPct val="155000"/>
              </a:lnSpc>
              <a:spcBef>
                <a:spcPts val="800"/>
              </a:spcBef>
            </a:pPr>
            <a:r>
              <a:rPr lang="en-US" sz="17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passwords, MFA codes, credit card numbers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382000" y="1460500"/>
            <a:ext cx="7112000" cy="654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5000"/>
              </a:lnSpc>
            </a:pPr>
            <a:r>
              <a:rPr lang="en-US" sz="1700" b="1" dirty="0">
                <a:solidFill>
                  <a:srgbClr val="E85D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6.</a:t>
            </a:r>
            <a:pPr>
              <a:lnSpc>
                <a:spcPct val="155000"/>
              </a:lnSpc>
            </a:pPr>
            <a:r>
              <a:rPr lang="en-US" sz="17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55000"/>
              </a:lnSpc>
            </a:pPr>
            <a:r>
              <a:rPr lang="en-US" sz="17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Mismatched URLs</a:t>
            </a:r>
            <a:pPr>
              <a:lnSpc>
                <a:spcPct val="155000"/>
              </a:lnSpc>
            </a:pPr>
            <a:r>
              <a:rPr lang="en-US" sz="17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hover to reveal the true destination before clicking</a:t>
            </a:r>
            <a:endParaRPr lang="en-US" sz="1600" dirty="0"/>
          </a:p>
          <a:p>
            <a:pPr>
              <a:lnSpc>
                <a:spcPct val="155000"/>
              </a:lnSpc>
              <a:spcBef>
                <a:spcPts val="800"/>
              </a:spcBef>
            </a:pPr>
            <a:r>
              <a:rPr lang="en-US" sz="1700" b="1" dirty="0">
                <a:solidFill>
                  <a:srgbClr val="E85D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7.</a:t>
            </a:r>
            <a:pPr>
              <a:lnSpc>
                <a:spcPct val="155000"/>
              </a:lnSpc>
              <a:spcBef>
                <a:spcPts val="800"/>
              </a:spcBef>
            </a:pPr>
            <a:r>
              <a:rPr lang="en-US" sz="17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55000"/>
              </a:lnSpc>
              <a:spcBef>
                <a:spcPts val="800"/>
              </a:spcBef>
            </a:pPr>
            <a:r>
              <a:rPr lang="en-US" sz="17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Unexpected attachments</a:t>
            </a:r>
            <a:pPr>
              <a:lnSpc>
                <a:spcPct val="155000"/>
              </a:lnSpc>
              <a:spcBef>
                <a:spcPts val="800"/>
              </a:spcBef>
            </a:pPr>
            <a:r>
              <a:rPr lang="en-US" sz="17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especially .iso, .js, .scr, or .html files</a:t>
            </a:r>
            <a:endParaRPr lang="en-US" sz="1600" dirty="0"/>
          </a:p>
          <a:p>
            <a:pPr>
              <a:lnSpc>
                <a:spcPct val="155000"/>
              </a:lnSpc>
              <a:spcBef>
                <a:spcPts val="800"/>
              </a:spcBef>
            </a:pPr>
            <a:r>
              <a:rPr lang="en-US" sz="1700" b="1" dirty="0">
                <a:solidFill>
                  <a:srgbClr val="E85D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8.</a:t>
            </a:r>
            <a:pPr>
              <a:lnSpc>
                <a:spcPct val="155000"/>
              </a:lnSpc>
              <a:spcBef>
                <a:spcPts val="800"/>
              </a:spcBef>
            </a:pPr>
            <a:r>
              <a:rPr lang="en-US" sz="17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55000"/>
              </a:lnSpc>
              <a:spcBef>
                <a:spcPts val="800"/>
              </a:spcBef>
            </a:pPr>
            <a:r>
              <a:rPr lang="en-US" sz="17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Fake branding</a:t>
            </a:r>
            <a:pPr>
              <a:lnSpc>
                <a:spcPct val="155000"/>
              </a:lnSpc>
              <a:spcBef>
                <a:spcPts val="800"/>
              </a:spcBef>
            </a:pPr>
            <a:r>
              <a:rPr lang="en-US" sz="17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low-res logos, wrong colors, inconsistent design</a:t>
            </a:r>
            <a:endParaRPr lang="en-US" sz="1600" dirty="0"/>
          </a:p>
          <a:p>
            <a:pPr>
              <a:lnSpc>
                <a:spcPct val="155000"/>
              </a:lnSpc>
              <a:spcBef>
                <a:spcPts val="800"/>
              </a:spcBef>
            </a:pPr>
            <a:r>
              <a:rPr lang="en-US" sz="1700" b="1" dirty="0">
                <a:solidFill>
                  <a:srgbClr val="E85D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9.</a:t>
            </a:r>
            <a:pPr>
              <a:lnSpc>
                <a:spcPct val="155000"/>
              </a:lnSpc>
              <a:spcBef>
                <a:spcPts val="800"/>
              </a:spcBef>
            </a:pPr>
            <a:r>
              <a:rPr lang="en-US" sz="17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55000"/>
              </a:lnSpc>
              <a:spcBef>
                <a:spcPts val="800"/>
              </a:spcBef>
            </a:pPr>
            <a:r>
              <a:rPr lang="en-US" sz="17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Too-good-to-be-true offers</a:t>
            </a:r>
            <a:pPr>
              <a:lnSpc>
                <a:spcPct val="155000"/>
              </a:lnSpc>
              <a:spcBef>
                <a:spcPts val="800"/>
              </a:spcBef>
            </a:pPr>
            <a:r>
              <a:rPr lang="en-US" sz="17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unexpected prizes, awards, or jobs</a:t>
            </a:r>
            <a:endParaRPr lang="en-US" sz="1600" dirty="0"/>
          </a:p>
          <a:p>
            <a:pPr>
              <a:lnSpc>
                <a:spcPct val="155000"/>
              </a:lnSpc>
              <a:spcBef>
                <a:spcPts val="800"/>
              </a:spcBef>
            </a:pPr>
            <a:r>
              <a:rPr lang="en-US" sz="1700" b="1" dirty="0">
                <a:solidFill>
                  <a:srgbClr val="E85D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10.</a:t>
            </a:r>
            <a:pPr>
              <a:lnSpc>
                <a:spcPct val="155000"/>
              </a:lnSpc>
              <a:spcBef>
                <a:spcPts val="800"/>
              </a:spcBef>
            </a:pPr>
            <a:r>
              <a:rPr lang="en-US" sz="17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55000"/>
              </a:lnSpc>
              <a:spcBef>
                <a:spcPts val="800"/>
              </a:spcBef>
            </a:pPr>
            <a:r>
              <a:rPr lang="en-US" sz="17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Odd timing or context</a:t>
            </a:r>
            <a:pPr>
              <a:lnSpc>
                <a:spcPct val="155000"/>
              </a:lnSpc>
              <a:spcBef>
                <a:spcPts val="800"/>
              </a:spcBef>
            </a:pPr>
            <a:r>
              <a:rPr lang="en-US" sz="17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emails sent at unusual hours or unrelated to your work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2000" y="8128000"/>
            <a:ext cx="14732000" cy="444500"/>
          </a:xfrm>
          <a:prstGeom prst="rect">
            <a:avLst/>
          </a:prstGeom>
          <a:solidFill>
            <a:srgbClr val="E85D4E">
              <a:alpha val="12549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952500" y="81661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cubicBezTo>
                  <a:pt x="188010" y="0"/>
                  <a:pt x="197386" y="5626"/>
                  <a:pt x="202248" y="14585"/>
                </a:cubicBezTo>
                <a:lnTo>
                  <a:pt x="352266" y="292398"/>
                </a:lnTo>
                <a:cubicBezTo>
                  <a:pt x="356920" y="301010"/>
                  <a:pt x="356711" y="311428"/>
                  <a:pt x="351711" y="319832"/>
                </a:cubicBezTo>
                <a:cubicBezTo>
                  <a:pt x="346710" y="328235"/>
                  <a:pt x="337612" y="333375"/>
                  <a:pt x="327819" y="333375"/>
                </a:cubicBezTo>
                <a:lnTo>
                  <a:pt x="27781" y="333375"/>
                </a:lnTo>
                <a:cubicBezTo>
                  <a:pt x="17988" y="333375"/>
                  <a:pt x="8959" y="328235"/>
                  <a:pt x="3889" y="319832"/>
                </a:cubicBezTo>
                <a:cubicBezTo>
                  <a:pt x="-1181" y="311428"/>
                  <a:pt x="-1320" y="301010"/>
                  <a:pt x="3334" y="292398"/>
                </a:cubicBezTo>
                <a:lnTo>
                  <a:pt x="153353" y="14585"/>
                </a:lnTo>
                <a:cubicBezTo>
                  <a:pt x="158214" y="5626"/>
                  <a:pt x="167590" y="0"/>
                  <a:pt x="177800" y="0"/>
                </a:cubicBezTo>
                <a:close/>
                <a:moveTo>
                  <a:pt x="177800" y="116681"/>
                </a:moveTo>
                <a:cubicBezTo>
                  <a:pt x="168563" y="116681"/>
                  <a:pt x="161131" y="124113"/>
                  <a:pt x="161131" y="133350"/>
                </a:cubicBezTo>
                <a:lnTo>
                  <a:pt x="161131" y="211138"/>
                </a:lnTo>
                <a:cubicBezTo>
                  <a:pt x="161131" y="220375"/>
                  <a:pt x="168563" y="227806"/>
                  <a:pt x="177800" y="227806"/>
                </a:cubicBezTo>
                <a:cubicBezTo>
                  <a:pt x="187037" y="227806"/>
                  <a:pt x="194469" y="220375"/>
                  <a:pt x="194469" y="211138"/>
                </a:cubicBezTo>
                <a:lnTo>
                  <a:pt x="194469" y="133350"/>
                </a:lnTo>
                <a:cubicBezTo>
                  <a:pt x="194469" y="124113"/>
                  <a:pt x="187037" y="116681"/>
                  <a:pt x="177800" y="116681"/>
                </a:cubicBezTo>
                <a:close/>
                <a:moveTo>
                  <a:pt x="196344" y="266700"/>
                </a:moveTo>
                <a:cubicBezTo>
                  <a:pt x="196766" y="259817"/>
                  <a:pt x="193333" y="253268"/>
                  <a:pt x="187432" y="249699"/>
                </a:cubicBezTo>
                <a:cubicBezTo>
                  <a:pt x="181532" y="246129"/>
                  <a:pt x="174138" y="246129"/>
                  <a:pt x="168237" y="249699"/>
                </a:cubicBezTo>
                <a:cubicBezTo>
                  <a:pt x="162336" y="253268"/>
                  <a:pt x="158904" y="259817"/>
                  <a:pt x="159325" y="266700"/>
                </a:cubicBezTo>
                <a:cubicBezTo>
                  <a:pt x="158904" y="273583"/>
                  <a:pt x="162336" y="280132"/>
                  <a:pt x="168237" y="283701"/>
                </a:cubicBezTo>
                <a:cubicBezTo>
                  <a:pt x="174138" y="287271"/>
                  <a:pt x="181532" y="287271"/>
                  <a:pt x="187432" y="283701"/>
                </a:cubicBezTo>
                <a:cubicBezTo>
                  <a:pt x="193333" y="280132"/>
                  <a:pt x="196766" y="273583"/>
                  <a:pt x="196344" y="266700"/>
                </a:cubicBezTo>
                <a:close/>
              </a:path>
            </a:pathLst>
          </a:custGeom>
          <a:solidFill>
            <a:srgbClr val="E85D4E"/>
          </a:solidFill>
          <a:ln/>
        </p:spPr>
      </p:sp>
      <p:sp>
        <p:nvSpPr>
          <p:cNvPr id="9" name="Text 7"/>
          <p:cNvSpPr/>
          <p:nvPr/>
        </p:nvSpPr>
        <p:spPr>
          <a:xfrm>
            <a:off x="1460500" y="8128000"/>
            <a:ext cx="13335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E85D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 Tip:</a:t>
            </a:r>
            <a:pPr>
              <a:lnSpc>
                <a:spcPct val="100000"/>
              </a:lnSpc>
            </a:pPr>
            <a:r>
              <a:rPr lang="en-US" sz="1600" dirty="0">
                <a:solidFill>
                  <a:srgbClr val="E85D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Scammers intentionally use poor grammar to filter out attentive targets. Don't be an "easy mark."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986000" y="8636000"/>
            <a:ext cx="76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4A556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07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800" cy="91440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571500"/>
            <a:ext cx="1143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to Spot Fake Websites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270000"/>
            <a:ext cx="635000" cy="381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524000"/>
            <a:ext cx="1473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Fake websites are designed to look identical to legitimate ones. Here's how to verify before you enter any credentials: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62000" y="2413000"/>
            <a:ext cx="7112000" cy="1397000"/>
          </a:xfrm>
          <a:prstGeom prst="rect">
            <a:avLst/>
          </a:prstGeom>
          <a:solidFill>
            <a:srgbClr val="E8E8E3"/>
          </a:solidFill>
          <a:ln/>
        </p:spPr>
      </p:sp>
      <p:sp>
        <p:nvSpPr>
          <p:cNvPr id="7" name="Shape 5"/>
          <p:cNvSpPr/>
          <p:nvPr/>
        </p:nvSpPr>
        <p:spPr>
          <a:xfrm>
            <a:off x="1016000" y="2667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88925" y="144463"/>
                </a:moveTo>
                <a:cubicBezTo>
                  <a:pt x="288925" y="176341"/>
                  <a:pt x="278576" y="205790"/>
                  <a:pt x="261144" y="229681"/>
                </a:cubicBezTo>
                <a:lnTo>
                  <a:pt x="349071" y="317679"/>
                </a:lnTo>
                <a:cubicBezTo>
                  <a:pt x="357753" y="326360"/>
                  <a:pt x="357753" y="340459"/>
                  <a:pt x="349071" y="349141"/>
                </a:cubicBezTo>
                <a:cubicBezTo>
                  <a:pt x="340390" y="357823"/>
                  <a:pt x="326291" y="357823"/>
                  <a:pt x="317609" y="349141"/>
                </a:cubicBezTo>
                <a:lnTo>
                  <a:pt x="229681" y="261144"/>
                </a:lnTo>
                <a:cubicBezTo>
                  <a:pt x="205790" y="278576"/>
                  <a:pt x="176341" y="288925"/>
                  <a:pt x="144463" y="288925"/>
                </a:cubicBezTo>
                <a:cubicBezTo>
                  <a:pt x="64661" y="288925"/>
                  <a:pt x="0" y="224264"/>
                  <a:pt x="0" y="144463"/>
                </a:cubicBezTo>
                <a:cubicBezTo>
                  <a:pt x="0" y="64661"/>
                  <a:pt x="64661" y="0"/>
                  <a:pt x="144463" y="0"/>
                </a:cubicBezTo>
                <a:cubicBezTo>
                  <a:pt x="224264" y="0"/>
                  <a:pt x="288925" y="64661"/>
                  <a:pt x="288925" y="144463"/>
                </a:cubicBezTo>
                <a:close/>
                <a:moveTo>
                  <a:pt x="144463" y="244475"/>
                </a:moveTo>
                <a:cubicBezTo>
                  <a:pt x="199661" y="244475"/>
                  <a:pt x="244475" y="199661"/>
                  <a:pt x="244475" y="144463"/>
                </a:cubicBezTo>
                <a:cubicBezTo>
                  <a:pt x="244475" y="89264"/>
                  <a:pt x="199661" y="44450"/>
                  <a:pt x="144463" y="44450"/>
                </a:cubicBezTo>
                <a:cubicBezTo>
                  <a:pt x="89264" y="44450"/>
                  <a:pt x="44450" y="89264"/>
                  <a:pt x="44450" y="144462"/>
                </a:cubicBezTo>
                <a:cubicBezTo>
                  <a:pt x="44450" y="199661"/>
                  <a:pt x="89264" y="244475"/>
                  <a:pt x="144462" y="244475"/>
                </a:cubicBezTo>
                <a:close/>
              </a:path>
            </a:pathLst>
          </a:custGeom>
          <a:solidFill>
            <a:srgbClr val="0D7377"/>
          </a:solidFill>
          <a:ln/>
        </p:spPr>
      </p:sp>
      <p:sp>
        <p:nvSpPr>
          <p:cNvPr id="8" name="Text 6"/>
          <p:cNvSpPr/>
          <p:nvPr/>
        </p:nvSpPr>
        <p:spPr>
          <a:xfrm>
            <a:off x="1524000" y="2603500"/>
            <a:ext cx="609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Verify the Domain Name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24000" y="3048000"/>
            <a:ext cx="609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Look for misspellings like micr0soft.com or extra characters in the URL.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382000" y="2413000"/>
            <a:ext cx="7112000" cy="1397000"/>
          </a:xfrm>
          <a:prstGeom prst="rect">
            <a:avLst/>
          </a:prstGeom>
          <a:solidFill>
            <a:srgbClr val="E8E8E3"/>
          </a:solidFill>
          <a:ln/>
        </p:spPr>
      </p:sp>
      <p:sp>
        <p:nvSpPr>
          <p:cNvPr id="11" name="Shape 9"/>
          <p:cNvSpPr/>
          <p:nvPr/>
        </p:nvSpPr>
        <p:spPr>
          <a:xfrm>
            <a:off x="8680450" y="26670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88900" y="66675"/>
                </a:moveTo>
                <a:lnTo>
                  <a:pt x="88900" y="111125"/>
                </a:lnTo>
                <a:lnTo>
                  <a:pt x="177800" y="111125"/>
                </a:lnTo>
                <a:lnTo>
                  <a:pt x="177800" y="66675"/>
                </a:lnTo>
                <a:cubicBezTo>
                  <a:pt x="177800" y="42158"/>
                  <a:pt x="157867" y="22225"/>
                  <a:pt x="133350" y="22225"/>
                </a:cubicBezTo>
                <a:cubicBezTo>
                  <a:pt x="108833" y="22225"/>
                  <a:pt x="88900" y="42158"/>
                  <a:pt x="88900" y="66675"/>
                </a:cubicBezTo>
                <a:close/>
                <a:moveTo>
                  <a:pt x="44450" y="111125"/>
                </a:moveTo>
                <a:lnTo>
                  <a:pt x="44450" y="66675"/>
                </a:lnTo>
                <a:cubicBezTo>
                  <a:pt x="44450" y="17572"/>
                  <a:pt x="84247" y="-22225"/>
                  <a:pt x="133350" y="-22225"/>
                </a:cubicBezTo>
                <a:cubicBezTo>
                  <a:pt x="182453" y="-22225"/>
                  <a:pt x="222250" y="17572"/>
                  <a:pt x="222250" y="66675"/>
                </a:cubicBezTo>
                <a:lnTo>
                  <a:pt x="222250" y="111125"/>
                </a:lnTo>
                <a:cubicBezTo>
                  <a:pt x="246767" y="111125"/>
                  <a:pt x="266700" y="131058"/>
                  <a:pt x="266700" y="155575"/>
                </a:cubicBezTo>
                <a:lnTo>
                  <a:pt x="266700" y="311150"/>
                </a:lnTo>
                <a:cubicBezTo>
                  <a:pt x="266700" y="335667"/>
                  <a:pt x="246767" y="355600"/>
                  <a:pt x="222250" y="355600"/>
                </a:cubicBezTo>
                <a:lnTo>
                  <a:pt x="44450" y="355600"/>
                </a:lnTo>
                <a:cubicBezTo>
                  <a:pt x="19933" y="355600"/>
                  <a:pt x="0" y="335667"/>
                  <a:pt x="0" y="311150"/>
                </a:cubicBezTo>
                <a:lnTo>
                  <a:pt x="0" y="155575"/>
                </a:lnTo>
                <a:cubicBezTo>
                  <a:pt x="0" y="131058"/>
                  <a:pt x="19933" y="111125"/>
                  <a:pt x="44450" y="111125"/>
                </a:cubicBezTo>
                <a:close/>
              </a:path>
            </a:pathLst>
          </a:custGeom>
          <a:solidFill>
            <a:srgbClr val="E85D4E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0" y="2603500"/>
            <a:ext cx="609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HTTPS Padlock != Safe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44000" y="3048000"/>
            <a:ext cx="609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20%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of phishing sites now use HTTPS. Trust the domain, not the padlock.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2000" y="4064000"/>
            <a:ext cx="7112000" cy="1397000"/>
          </a:xfrm>
          <a:prstGeom prst="rect">
            <a:avLst/>
          </a:prstGeom>
          <a:solidFill>
            <a:srgbClr val="E8E8E3"/>
          </a:solidFill>
          <a:ln/>
        </p:spPr>
      </p:sp>
      <p:sp>
        <p:nvSpPr>
          <p:cNvPr id="15" name="Shape 13"/>
          <p:cNvSpPr/>
          <p:nvPr/>
        </p:nvSpPr>
        <p:spPr>
          <a:xfrm>
            <a:off x="993775" y="43180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200025" y="22225"/>
                </a:moveTo>
                <a:cubicBezTo>
                  <a:pt x="143907" y="22225"/>
                  <a:pt x="98971" y="47784"/>
                  <a:pt x="66258" y="78204"/>
                </a:cubicBezTo>
                <a:cubicBezTo>
                  <a:pt x="33754" y="108416"/>
                  <a:pt x="12015" y="144463"/>
                  <a:pt x="1667" y="169257"/>
                </a:cubicBezTo>
                <a:cubicBezTo>
                  <a:pt x="-625" y="174744"/>
                  <a:pt x="-625" y="180856"/>
                  <a:pt x="1667" y="186343"/>
                </a:cubicBezTo>
                <a:cubicBezTo>
                  <a:pt x="12015" y="211138"/>
                  <a:pt x="33754" y="247253"/>
                  <a:pt x="66258" y="277396"/>
                </a:cubicBezTo>
                <a:cubicBezTo>
                  <a:pt x="98971" y="307747"/>
                  <a:pt x="143907" y="333375"/>
                  <a:pt x="200025" y="333375"/>
                </a:cubicBezTo>
                <a:cubicBezTo>
                  <a:pt x="256143" y="333375"/>
                  <a:pt x="301079" y="307816"/>
                  <a:pt x="333792" y="277396"/>
                </a:cubicBezTo>
                <a:cubicBezTo>
                  <a:pt x="366296" y="247184"/>
                  <a:pt x="388035" y="211138"/>
                  <a:pt x="398383" y="186343"/>
                </a:cubicBezTo>
                <a:cubicBezTo>
                  <a:pt x="400675" y="180856"/>
                  <a:pt x="400675" y="174744"/>
                  <a:pt x="398383" y="169257"/>
                </a:cubicBezTo>
                <a:cubicBezTo>
                  <a:pt x="388035" y="144462"/>
                  <a:pt x="366296" y="108347"/>
                  <a:pt x="333792" y="78204"/>
                </a:cubicBezTo>
                <a:cubicBezTo>
                  <a:pt x="301079" y="47853"/>
                  <a:pt x="256143" y="22225"/>
                  <a:pt x="200025" y="22225"/>
                </a:cubicBezTo>
                <a:close/>
                <a:moveTo>
                  <a:pt x="100013" y="177800"/>
                </a:moveTo>
                <a:cubicBezTo>
                  <a:pt x="100013" y="122602"/>
                  <a:pt x="144827" y="77788"/>
                  <a:pt x="200025" y="77788"/>
                </a:cubicBezTo>
                <a:cubicBezTo>
                  <a:pt x="255223" y="77788"/>
                  <a:pt x="300038" y="122602"/>
                  <a:pt x="300038" y="177800"/>
                </a:cubicBezTo>
                <a:cubicBezTo>
                  <a:pt x="300038" y="232998"/>
                  <a:pt x="255223" y="277813"/>
                  <a:pt x="200025" y="277813"/>
                </a:cubicBezTo>
                <a:cubicBezTo>
                  <a:pt x="144827" y="277813"/>
                  <a:pt x="100013" y="232998"/>
                  <a:pt x="100013" y="177800"/>
                </a:cubicBezTo>
                <a:close/>
                <a:moveTo>
                  <a:pt x="200025" y="133350"/>
                </a:moveTo>
                <a:cubicBezTo>
                  <a:pt x="200025" y="157867"/>
                  <a:pt x="180092" y="177800"/>
                  <a:pt x="155575" y="177800"/>
                </a:cubicBezTo>
                <a:cubicBezTo>
                  <a:pt x="147588" y="177800"/>
                  <a:pt x="140087" y="175716"/>
                  <a:pt x="133558" y="171966"/>
                </a:cubicBezTo>
                <a:cubicBezTo>
                  <a:pt x="132864" y="179536"/>
                  <a:pt x="133489" y="187315"/>
                  <a:pt x="135573" y="195024"/>
                </a:cubicBezTo>
                <a:cubicBezTo>
                  <a:pt x="145088" y="230584"/>
                  <a:pt x="181689" y="251698"/>
                  <a:pt x="217249" y="242183"/>
                </a:cubicBezTo>
                <a:cubicBezTo>
                  <a:pt x="252809" y="232668"/>
                  <a:pt x="273923" y="196066"/>
                  <a:pt x="264408" y="160506"/>
                </a:cubicBezTo>
                <a:cubicBezTo>
                  <a:pt x="255935" y="128766"/>
                  <a:pt x="225862" y="108555"/>
                  <a:pt x="194191" y="111333"/>
                </a:cubicBezTo>
                <a:cubicBezTo>
                  <a:pt x="197872" y="117793"/>
                  <a:pt x="200025" y="125293"/>
                  <a:pt x="200025" y="133350"/>
                </a:cubicBezTo>
                <a:close/>
              </a:path>
            </a:pathLst>
          </a:custGeom>
          <a:solidFill>
            <a:srgbClr val="0D7377"/>
          </a:solidFill>
          <a:ln/>
        </p:spPr>
      </p:sp>
      <p:sp>
        <p:nvSpPr>
          <p:cNvPr id="16" name="Text 14"/>
          <p:cNvSpPr/>
          <p:nvPr/>
        </p:nvSpPr>
        <p:spPr>
          <a:xfrm>
            <a:off x="1524000" y="4254500"/>
            <a:ext cx="609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Check for Poor Design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24000" y="4699000"/>
            <a:ext cx="609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Low-res logos, broken links, missing pages, or inconsistent branding are warning signs.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382000" y="4064000"/>
            <a:ext cx="7112000" cy="1397000"/>
          </a:xfrm>
          <a:prstGeom prst="rect">
            <a:avLst/>
          </a:prstGeom>
          <a:solidFill>
            <a:srgbClr val="E8E8E3"/>
          </a:solidFill>
          <a:ln/>
        </p:spPr>
      </p:sp>
      <p:sp>
        <p:nvSpPr>
          <p:cNvPr id="19" name="Shape 17"/>
          <p:cNvSpPr/>
          <p:nvPr/>
        </p:nvSpPr>
        <p:spPr>
          <a:xfrm>
            <a:off x="8613775" y="43180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355600" y="66675"/>
                </a:moveTo>
                <a:lnTo>
                  <a:pt x="111125" y="66675"/>
                </a:lnTo>
                <a:cubicBezTo>
                  <a:pt x="111125" y="42158"/>
                  <a:pt x="131058" y="22225"/>
                  <a:pt x="155575" y="22225"/>
                </a:cubicBezTo>
                <a:lnTo>
                  <a:pt x="355600" y="22225"/>
                </a:lnTo>
                <a:cubicBezTo>
                  <a:pt x="380117" y="22225"/>
                  <a:pt x="400050" y="42158"/>
                  <a:pt x="400050" y="66675"/>
                </a:cubicBezTo>
                <a:lnTo>
                  <a:pt x="400050" y="200025"/>
                </a:lnTo>
                <a:cubicBezTo>
                  <a:pt x="400050" y="224542"/>
                  <a:pt x="380117" y="244475"/>
                  <a:pt x="355600" y="244475"/>
                </a:cubicBezTo>
                <a:lnTo>
                  <a:pt x="322263" y="244475"/>
                </a:lnTo>
                <a:lnTo>
                  <a:pt x="322263" y="200025"/>
                </a:lnTo>
                <a:lnTo>
                  <a:pt x="355600" y="200025"/>
                </a:lnTo>
                <a:lnTo>
                  <a:pt x="355600" y="66675"/>
                </a:lnTo>
                <a:close/>
                <a:moveTo>
                  <a:pt x="0" y="155575"/>
                </a:moveTo>
                <a:cubicBezTo>
                  <a:pt x="0" y="131058"/>
                  <a:pt x="19933" y="111125"/>
                  <a:pt x="44450" y="111125"/>
                </a:cubicBezTo>
                <a:lnTo>
                  <a:pt x="244475" y="111125"/>
                </a:lnTo>
                <a:cubicBezTo>
                  <a:pt x="268992" y="111125"/>
                  <a:pt x="288925" y="131058"/>
                  <a:pt x="288925" y="155575"/>
                </a:cubicBezTo>
                <a:lnTo>
                  <a:pt x="288925" y="288925"/>
                </a:lnTo>
                <a:cubicBezTo>
                  <a:pt x="288925" y="313442"/>
                  <a:pt x="268992" y="333375"/>
                  <a:pt x="244475" y="333375"/>
                </a:cubicBezTo>
                <a:lnTo>
                  <a:pt x="44450" y="333375"/>
                </a:lnTo>
                <a:cubicBezTo>
                  <a:pt x="19933" y="333375"/>
                  <a:pt x="0" y="313442"/>
                  <a:pt x="0" y="288925"/>
                </a:cubicBezTo>
                <a:lnTo>
                  <a:pt x="0" y="155575"/>
                </a:lnTo>
                <a:close/>
                <a:moveTo>
                  <a:pt x="44450" y="183356"/>
                </a:moveTo>
                <a:cubicBezTo>
                  <a:pt x="44450" y="192594"/>
                  <a:pt x="51881" y="200025"/>
                  <a:pt x="61119" y="200025"/>
                </a:cubicBezTo>
                <a:lnTo>
                  <a:pt x="227806" y="200025"/>
                </a:lnTo>
                <a:cubicBezTo>
                  <a:pt x="237044" y="200025"/>
                  <a:pt x="244475" y="192594"/>
                  <a:pt x="244475" y="183356"/>
                </a:cubicBezTo>
                <a:cubicBezTo>
                  <a:pt x="244475" y="174119"/>
                  <a:pt x="237044" y="166688"/>
                  <a:pt x="227806" y="166688"/>
                </a:cubicBezTo>
                <a:lnTo>
                  <a:pt x="61119" y="166688"/>
                </a:lnTo>
                <a:cubicBezTo>
                  <a:pt x="51881" y="166688"/>
                  <a:pt x="44450" y="174119"/>
                  <a:pt x="44450" y="183356"/>
                </a:cubicBezTo>
                <a:close/>
              </a:path>
            </a:pathLst>
          </a:custGeom>
          <a:solidFill>
            <a:srgbClr val="E85D4E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0" y="4254500"/>
            <a:ext cx="609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Browser-in-the-Browser Attacks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144000" y="4699000"/>
            <a:ext cx="609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Fake login pop-ups that can't be moved or detached from the browser window.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62000" y="5842000"/>
            <a:ext cx="14732000" cy="1778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3" name="Shape 21"/>
          <p:cNvSpPr/>
          <p:nvPr/>
        </p:nvSpPr>
        <p:spPr>
          <a:xfrm>
            <a:off x="1143000" y="6223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457200"/>
                </a:moveTo>
                <a:cubicBezTo>
                  <a:pt x="354768" y="457200"/>
                  <a:pt x="457200" y="354768"/>
                  <a:pt x="457200" y="228600"/>
                </a:cubicBezTo>
                <a:cubicBezTo>
                  <a:pt x="457200" y="102432"/>
                  <a:pt x="354768" y="0"/>
                  <a:pt x="228600" y="0"/>
                </a:cubicBezTo>
                <a:cubicBezTo>
                  <a:pt x="102432" y="0"/>
                  <a:pt x="0" y="102432"/>
                  <a:pt x="0" y="228600"/>
                </a:cubicBezTo>
                <a:cubicBezTo>
                  <a:pt x="0" y="354768"/>
                  <a:pt x="102432" y="457200"/>
                  <a:pt x="228600" y="457200"/>
                </a:cubicBezTo>
                <a:close/>
                <a:moveTo>
                  <a:pt x="303967" y="189934"/>
                </a:moveTo>
                <a:lnTo>
                  <a:pt x="232529" y="304234"/>
                </a:lnTo>
                <a:cubicBezTo>
                  <a:pt x="228779" y="310217"/>
                  <a:pt x="222349" y="313968"/>
                  <a:pt x="215295" y="314325"/>
                </a:cubicBezTo>
                <a:cubicBezTo>
                  <a:pt x="208240" y="314682"/>
                  <a:pt x="201454" y="311468"/>
                  <a:pt x="197257" y="305753"/>
                </a:cubicBezTo>
                <a:lnTo>
                  <a:pt x="154394" y="248602"/>
                </a:lnTo>
                <a:cubicBezTo>
                  <a:pt x="147251" y="239137"/>
                  <a:pt x="149215" y="225743"/>
                  <a:pt x="158681" y="218599"/>
                </a:cubicBezTo>
                <a:cubicBezTo>
                  <a:pt x="168146" y="211455"/>
                  <a:pt x="181541" y="213420"/>
                  <a:pt x="188684" y="222885"/>
                </a:cubicBezTo>
                <a:lnTo>
                  <a:pt x="212794" y="255032"/>
                </a:lnTo>
                <a:lnTo>
                  <a:pt x="267623" y="167253"/>
                </a:lnTo>
                <a:cubicBezTo>
                  <a:pt x="273874" y="157252"/>
                  <a:pt x="287089" y="154126"/>
                  <a:pt x="297180" y="160466"/>
                </a:cubicBezTo>
                <a:cubicBezTo>
                  <a:pt x="307271" y="166807"/>
                  <a:pt x="310307" y="179933"/>
                  <a:pt x="303967" y="190024"/>
                </a:cubicBezTo>
                <a:close/>
              </a:path>
            </a:pathLst>
          </a:custGeom>
          <a:solidFill>
            <a:srgbClr val="0D7377"/>
          </a:solidFill>
          <a:ln/>
        </p:spPr>
      </p:sp>
      <p:sp>
        <p:nvSpPr>
          <p:cNvPr id="24" name="Text 22"/>
          <p:cNvSpPr/>
          <p:nvPr/>
        </p:nvSpPr>
        <p:spPr>
          <a:xfrm>
            <a:off x="1841500" y="6159500"/>
            <a:ext cx="508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GOLDEN RULE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143000" y="6731000"/>
            <a:ext cx="1397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Always navigate to websites manually from your bookmarks or by typing the URL directly. Never use links from unsolicited emails, texts, or messages.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4986000" y="8636000"/>
            <a:ext cx="76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4A556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08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ambyjsecdlbwi/mnt/agents/output/phishing-awareness/images/9_What_is_Social_Engineering_Meanin.png">    </p:cNvPr>
          <p:cNvPicPr>
            <a:picLocks noChangeAspect="1"/>
          </p:cNvPicPr>
          <p:nvPr/>
        </p:nvPicPr>
        <p:blipFill>
          <a:blip r:embed="rId1"/>
          <a:srcRect l="0" r="0" t="7749" b="7749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A1A2E">
                  <a:alpha val="38000"/>
                </a:srgbClr>
              </a:gs>
              <a:gs pos="50000">
                <a:srgbClr val="1A1A2E">
                  <a:alpha val="80000"/>
                </a:srgbClr>
              </a:gs>
              <a:gs pos="100000">
                <a:srgbClr val="1A1A2E">
                  <a:alpha val="94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2000" y="1524000"/>
            <a:ext cx="5080000" cy="254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0" dirty="0">
                <a:solidFill>
                  <a:srgbClr val="FFFFFF">
                    <a:alpha val="15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762000" y="43180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spc="200" kern="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 THREE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62000" y="4762500"/>
            <a:ext cx="1270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4800" spc="4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SOCIAL ENGINEERING TACTICS</a:t>
            </a:r>
            <a:endParaRPr lang="en-US" sz="5200" dirty="0"/>
          </a:p>
        </p:txBody>
      </p:sp>
      <p:sp>
        <p:nvSpPr>
          <p:cNvPr id="7" name="Shape 4"/>
          <p:cNvSpPr/>
          <p:nvPr/>
        </p:nvSpPr>
        <p:spPr>
          <a:xfrm>
            <a:off x="762000" y="5842000"/>
            <a:ext cx="1016000" cy="508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8" name="Text 5"/>
          <p:cNvSpPr/>
          <p:nvPr/>
        </p:nvSpPr>
        <p:spPr>
          <a:xfrm>
            <a:off x="762000" y="60960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FFFFFF">
                    <a:alpha val="8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How attackers hack your mind, not your software</a:t>
            </a:r>
            <a:endParaRPr lang="en-US" sz="22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800" cy="91440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508000"/>
            <a:ext cx="1143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Common Social Engineering Techniques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206500"/>
            <a:ext cx="635000" cy="381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524000"/>
            <a:ext cx="4699000" cy="2159000"/>
          </a:xfrm>
          <a:prstGeom prst="rect">
            <a:avLst/>
          </a:prstGeom>
          <a:solidFill>
            <a:srgbClr val="E8E8E3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1651000"/>
            <a:ext cx="419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Email Phishing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16000" y="2095500"/>
            <a:ext cx="4191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Mass scam emails impersonating trusted entities to lure clicks on malicious links or attachments.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778500" y="1524000"/>
            <a:ext cx="4699000" cy="2159000"/>
          </a:xfrm>
          <a:prstGeom prst="rect">
            <a:avLst/>
          </a:prstGeom>
          <a:solidFill>
            <a:srgbClr val="E8E8E3"/>
          </a:solidFill>
          <a:ln/>
        </p:spPr>
      </p:sp>
      <p:sp>
        <p:nvSpPr>
          <p:cNvPr id="9" name="Text 7"/>
          <p:cNvSpPr/>
          <p:nvPr/>
        </p:nvSpPr>
        <p:spPr>
          <a:xfrm>
            <a:off x="6032500" y="1651000"/>
            <a:ext cx="419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Spear Phishing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032500" y="2095500"/>
            <a:ext cx="4191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Targeted attacks customized for specific victims, often using personal details found online.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0795000" y="1524000"/>
            <a:ext cx="4699000" cy="2159000"/>
          </a:xfrm>
          <a:prstGeom prst="rect">
            <a:avLst/>
          </a:prstGeom>
          <a:solidFill>
            <a:srgbClr val="E8E8E3"/>
          </a:solidFill>
          <a:ln/>
        </p:spPr>
      </p:sp>
      <p:sp>
        <p:nvSpPr>
          <p:cNvPr id="12" name="Text 10"/>
          <p:cNvSpPr/>
          <p:nvPr/>
        </p:nvSpPr>
        <p:spPr>
          <a:xfrm>
            <a:off x="11049000" y="1651000"/>
            <a:ext cx="419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Whaling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049000" y="2095500"/>
            <a:ext cx="4191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Targeting C-suite executives for high-value gains, often through Business Email Compromise (BEC).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2000" y="3937000"/>
            <a:ext cx="4699000" cy="2159000"/>
          </a:xfrm>
          <a:prstGeom prst="rect">
            <a:avLst/>
          </a:prstGeom>
          <a:solidFill>
            <a:srgbClr val="E8E8E3"/>
          </a:solidFill>
          <a:ln/>
        </p:spPr>
      </p:sp>
      <p:sp>
        <p:nvSpPr>
          <p:cNvPr id="15" name="Text 13"/>
          <p:cNvSpPr/>
          <p:nvPr/>
        </p:nvSpPr>
        <p:spPr>
          <a:xfrm>
            <a:off x="1016000" y="4064000"/>
            <a:ext cx="419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Smishing &amp; Vishing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16000" y="4508500"/>
            <a:ext cx="4191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SMS and voice-based attacks.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19%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of breaches now come from these channels beyond email.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778500" y="3937000"/>
            <a:ext cx="4699000" cy="2159000"/>
          </a:xfrm>
          <a:prstGeom prst="rect">
            <a:avLst/>
          </a:prstGeom>
          <a:solidFill>
            <a:srgbClr val="E8E8E3"/>
          </a:solidFill>
          <a:ln/>
        </p:spPr>
      </p:sp>
      <p:sp>
        <p:nvSpPr>
          <p:cNvPr id="18" name="Text 16"/>
          <p:cNvSpPr/>
          <p:nvPr/>
        </p:nvSpPr>
        <p:spPr>
          <a:xfrm>
            <a:off x="6032500" y="4064000"/>
            <a:ext cx="419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Pretexting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032500" y="4508500"/>
            <a:ext cx="4191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Creating believable scenarios to build false trust, impersonating vendors, bosses, or officials.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0795000" y="3937000"/>
            <a:ext cx="4699000" cy="2159000"/>
          </a:xfrm>
          <a:prstGeom prst="rect">
            <a:avLst/>
          </a:prstGeom>
          <a:solidFill>
            <a:srgbClr val="E8E8E3"/>
          </a:solidFill>
          <a:ln/>
        </p:spPr>
      </p:sp>
      <p:sp>
        <p:nvSpPr>
          <p:cNvPr id="21" name="Text 19"/>
          <p:cNvSpPr/>
          <p:nvPr/>
        </p:nvSpPr>
        <p:spPr>
          <a:xfrm>
            <a:off x="11049000" y="4064000"/>
            <a:ext cx="419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QR Code Phishing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049000" y="4508500"/>
            <a:ext cx="4191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Malicious QR codes (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quishing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) leading to fake login or payment pages.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62000" y="6413500"/>
            <a:ext cx="14732000" cy="1651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4" name="Text 22"/>
          <p:cNvSpPr/>
          <p:nvPr/>
        </p:nvSpPr>
        <p:spPr>
          <a:xfrm>
            <a:off x="1016000" y="6540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EMERGING THREATS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16000" y="7048500"/>
            <a:ext cx="14224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Deepfake Fraud: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AI-generated voice and video impersonation during live calls.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Baiting: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False promises exploiting curiosity or greed.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Scareware: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False malware alarms prompting dangerous software installs.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4986000" y="8636000"/>
            <a:ext cx="76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4A556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10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800" cy="91440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571500"/>
            <a:ext cx="1143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Psychology Behind Social Engineering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270000"/>
            <a:ext cx="635000" cy="381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524000"/>
            <a:ext cx="1473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Attackers don't hack computers—they hack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people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 They exploit psychological triggers to bypass your critical thinking.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62000" y="2476500"/>
            <a:ext cx="4699000" cy="2540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7" name="Shape 5"/>
          <p:cNvSpPr/>
          <p:nvPr/>
        </p:nvSpPr>
        <p:spPr>
          <a:xfrm>
            <a:off x="1041400" y="2730500"/>
            <a:ext cx="355600" cy="406400"/>
          </a:xfrm>
          <a:custGeom>
            <a:avLst/>
            <a:gdLst/>
            <a:ahLst/>
            <a:cxnLst/>
            <a:rect l="l" t="t" r="r" b="b"/>
            <a:pathLst>
              <a:path w="355600" h="406400">
                <a:moveTo>
                  <a:pt x="177800" y="196850"/>
                </a:moveTo>
                <a:cubicBezTo>
                  <a:pt x="125230" y="196850"/>
                  <a:pt x="82550" y="154170"/>
                  <a:pt x="82550" y="101600"/>
                </a:cubicBezTo>
                <a:cubicBezTo>
                  <a:pt x="82550" y="49030"/>
                  <a:pt x="125230" y="6350"/>
                  <a:pt x="177800" y="6350"/>
                </a:cubicBezTo>
                <a:cubicBezTo>
                  <a:pt x="230370" y="6350"/>
                  <a:pt x="273050" y="49030"/>
                  <a:pt x="273050" y="101600"/>
                </a:cubicBezTo>
                <a:cubicBezTo>
                  <a:pt x="273050" y="154170"/>
                  <a:pt x="230370" y="196850"/>
                  <a:pt x="177800" y="196850"/>
                </a:cubicBezTo>
                <a:close/>
                <a:moveTo>
                  <a:pt x="153591" y="241300"/>
                </a:moveTo>
                <a:lnTo>
                  <a:pt x="202009" y="241300"/>
                </a:lnTo>
                <a:cubicBezTo>
                  <a:pt x="209709" y="241300"/>
                  <a:pt x="215900" y="247491"/>
                  <a:pt x="215900" y="255191"/>
                </a:cubicBezTo>
                <a:cubicBezTo>
                  <a:pt x="215900" y="258524"/>
                  <a:pt x="214709" y="261699"/>
                  <a:pt x="212566" y="264239"/>
                </a:cubicBezTo>
                <a:lnTo>
                  <a:pt x="190818" y="289639"/>
                </a:lnTo>
                <a:lnTo>
                  <a:pt x="215424" y="381000"/>
                </a:lnTo>
                <a:lnTo>
                  <a:pt x="215900" y="381000"/>
                </a:lnTo>
                <a:lnTo>
                  <a:pt x="243364" y="271066"/>
                </a:lnTo>
                <a:cubicBezTo>
                  <a:pt x="245110" y="264160"/>
                  <a:pt x="252174" y="259953"/>
                  <a:pt x="258842" y="262493"/>
                </a:cubicBezTo>
                <a:cubicBezTo>
                  <a:pt x="307975" y="281226"/>
                  <a:pt x="342900" y="328851"/>
                  <a:pt x="342900" y="384572"/>
                </a:cubicBezTo>
                <a:cubicBezTo>
                  <a:pt x="342900" y="396558"/>
                  <a:pt x="333137" y="406321"/>
                  <a:pt x="321151" y="406321"/>
                </a:cubicBezTo>
                <a:lnTo>
                  <a:pt x="34449" y="406400"/>
                </a:lnTo>
                <a:cubicBezTo>
                  <a:pt x="22463" y="406400"/>
                  <a:pt x="12700" y="396637"/>
                  <a:pt x="12700" y="384651"/>
                </a:cubicBezTo>
                <a:cubicBezTo>
                  <a:pt x="12700" y="328930"/>
                  <a:pt x="47625" y="281305"/>
                  <a:pt x="96758" y="262573"/>
                </a:cubicBezTo>
                <a:cubicBezTo>
                  <a:pt x="103426" y="260033"/>
                  <a:pt x="110490" y="264239"/>
                  <a:pt x="112236" y="271145"/>
                </a:cubicBezTo>
                <a:lnTo>
                  <a:pt x="139700" y="381079"/>
                </a:lnTo>
                <a:lnTo>
                  <a:pt x="140176" y="381079"/>
                </a:lnTo>
                <a:lnTo>
                  <a:pt x="164783" y="289719"/>
                </a:lnTo>
                <a:lnTo>
                  <a:pt x="143034" y="264319"/>
                </a:lnTo>
                <a:cubicBezTo>
                  <a:pt x="140891" y="261779"/>
                  <a:pt x="139700" y="258604"/>
                  <a:pt x="139700" y="255270"/>
                </a:cubicBezTo>
                <a:cubicBezTo>
                  <a:pt x="139700" y="247571"/>
                  <a:pt x="145891" y="241379"/>
                  <a:pt x="153591" y="241379"/>
                </a:cubicBezTo>
                <a:close/>
              </a:path>
            </a:pathLst>
          </a:custGeom>
          <a:solidFill>
            <a:srgbClr val="0D7377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3302000"/>
            <a:ext cx="419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Authority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6000" y="3810000"/>
            <a:ext cx="4191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Posing as executives, IT support, or officials to demand compliance.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778500" y="2476500"/>
            <a:ext cx="4699000" cy="2540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1" name="Shape 9"/>
          <p:cNvSpPr/>
          <p:nvPr/>
        </p:nvSpPr>
        <p:spPr>
          <a:xfrm>
            <a:off x="6057900" y="2730500"/>
            <a:ext cx="355600" cy="406400"/>
          </a:xfrm>
          <a:custGeom>
            <a:avLst/>
            <a:gdLst/>
            <a:ahLst/>
            <a:cxnLst/>
            <a:rect l="l" t="t" r="r" b="b"/>
            <a:pathLst>
              <a:path w="355600" h="406400">
                <a:moveTo>
                  <a:pt x="268923" y="-7858"/>
                </a:moveTo>
                <a:cubicBezTo>
                  <a:pt x="278368" y="-1032"/>
                  <a:pt x="281861" y="11351"/>
                  <a:pt x="277574" y="22146"/>
                </a:cubicBezTo>
                <a:lnTo>
                  <a:pt x="215344" y="177800"/>
                </a:lnTo>
                <a:lnTo>
                  <a:pt x="330200" y="177800"/>
                </a:lnTo>
                <a:cubicBezTo>
                  <a:pt x="340916" y="177800"/>
                  <a:pt x="350441" y="184468"/>
                  <a:pt x="354092" y="194548"/>
                </a:cubicBezTo>
                <a:cubicBezTo>
                  <a:pt x="357743" y="204629"/>
                  <a:pt x="354648" y="215900"/>
                  <a:pt x="346472" y="222726"/>
                </a:cubicBezTo>
                <a:lnTo>
                  <a:pt x="117872" y="413226"/>
                </a:lnTo>
                <a:cubicBezTo>
                  <a:pt x="108903" y="420688"/>
                  <a:pt x="96123" y="421084"/>
                  <a:pt x="86678" y="414258"/>
                </a:cubicBezTo>
                <a:cubicBezTo>
                  <a:pt x="77232" y="407432"/>
                  <a:pt x="73739" y="395049"/>
                  <a:pt x="78026" y="384254"/>
                </a:cubicBezTo>
                <a:lnTo>
                  <a:pt x="140256" y="228600"/>
                </a:lnTo>
                <a:lnTo>
                  <a:pt x="25400" y="228600"/>
                </a:lnTo>
                <a:cubicBezTo>
                  <a:pt x="14684" y="228600"/>
                  <a:pt x="5159" y="221933"/>
                  <a:pt x="1508" y="211852"/>
                </a:cubicBezTo>
                <a:cubicBezTo>
                  <a:pt x="-2143" y="201771"/>
                  <a:pt x="952" y="190500"/>
                  <a:pt x="9128" y="183674"/>
                </a:cubicBezTo>
                <a:lnTo>
                  <a:pt x="237728" y="-6826"/>
                </a:lnTo>
                <a:cubicBezTo>
                  <a:pt x="246698" y="-14288"/>
                  <a:pt x="259477" y="-14684"/>
                  <a:pt x="268923" y="-7858"/>
                </a:cubicBezTo>
                <a:close/>
              </a:path>
            </a:pathLst>
          </a:custGeom>
          <a:solidFill>
            <a:srgbClr val="E85D4E"/>
          </a:solidFill>
          <a:ln/>
        </p:spPr>
      </p:sp>
      <p:sp>
        <p:nvSpPr>
          <p:cNvPr id="12" name="Text 10"/>
          <p:cNvSpPr/>
          <p:nvPr/>
        </p:nvSpPr>
        <p:spPr>
          <a:xfrm>
            <a:off x="6032500" y="3302000"/>
            <a:ext cx="419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Urgency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032500" y="3810000"/>
            <a:ext cx="4191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Creating time pressure to bypass careful analysis. "Act now or lose access."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795000" y="2476500"/>
            <a:ext cx="4699000" cy="2540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5" name="Shape 13"/>
          <p:cNvSpPr/>
          <p:nvPr/>
        </p:nvSpPr>
        <p:spPr>
          <a:xfrm>
            <a:off x="11049000" y="2730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cubicBezTo>
                  <a:pt x="214868" y="0"/>
                  <a:pt x="225584" y="6429"/>
                  <a:pt x="231140" y="16669"/>
                </a:cubicBezTo>
                <a:lnTo>
                  <a:pt x="402590" y="334169"/>
                </a:lnTo>
                <a:cubicBezTo>
                  <a:pt x="407908" y="344011"/>
                  <a:pt x="407670" y="355918"/>
                  <a:pt x="401955" y="365522"/>
                </a:cubicBezTo>
                <a:cubicBezTo>
                  <a:pt x="396240" y="375126"/>
                  <a:pt x="385842" y="381000"/>
                  <a:pt x="374650" y="381000"/>
                </a:cubicBezTo>
                <a:lnTo>
                  <a:pt x="31750" y="381000"/>
                </a:lnTo>
                <a:cubicBezTo>
                  <a:pt x="20558" y="381000"/>
                  <a:pt x="10239" y="375126"/>
                  <a:pt x="4445" y="365522"/>
                </a:cubicBezTo>
                <a:cubicBezTo>
                  <a:pt x="-1349" y="355918"/>
                  <a:pt x="-1508" y="344011"/>
                  <a:pt x="3810" y="334169"/>
                </a:cubicBezTo>
                <a:lnTo>
                  <a:pt x="175260" y="16669"/>
                </a:lnTo>
                <a:cubicBezTo>
                  <a:pt x="180816" y="6429"/>
                  <a:pt x="191532" y="0"/>
                  <a:pt x="203200" y="0"/>
                </a:cubicBezTo>
                <a:close/>
                <a:moveTo>
                  <a:pt x="203200" y="133350"/>
                </a:moveTo>
                <a:cubicBezTo>
                  <a:pt x="192643" y="133350"/>
                  <a:pt x="184150" y="141843"/>
                  <a:pt x="184150" y="152400"/>
                </a:cubicBezTo>
                <a:lnTo>
                  <a:pt x="184150" y="241300"/>
                </a:lnTo>
                <a:cubicBezTo>
                  <a:pt x="184150" y="251857"/>
                  <a:pt x="192643" y="260350"/>
                  <a:pt x="203200" y="260350"/>
                </a:cubicBezTo>
                <a:cubicBezTo>
                  <a:pt x="213757" y="260350"/>
                  <a:pt x="222250" y="251857"/>
                  <a:pt x="222250" y="241300"/>
                </a:cubicBezTo>
                <a:lnTo>
                  <a:pt x="222250" y="152400"/>
                </a:lnTo>
                <a:cubicBezTo>
                  <a:pt x="222250" y="141843"/>
                  <a:pt x="213757" y="133350"/>
                  <a:pt x="203200" y="133350"/>
                </a:cubicBezTo>
                <a:close/>
                <a:moveTo>
                  <a:pt x="224393" y="304800"/>
                </a:moveTo>
                <a:cubicBezTo>
                  <a:pt x="224875" y="296933"/>
                  <a:pt x="220952" y="289449"/>
                  <a:pt x="214208" y="285370"/>
                </a:cubicBezTo>
                <a:cubicBezTo>
                  <a:pt x="207465" y="281291"/>
                  <a:pt x="199015" y="281291"/>
                  <a:pt x="192271" y="285370"/>
                </a:cubicBezTo>
                <a:cubicBezTo>
                  <a:pt x="185527" y="289449"/>
                  <a:pt x="181604" y="296933"/>
                  <a:pt x="182086" y="304800"/>
                </a:cubicBezTo>
                <a:cubicBezTo>
                  <a:pt x="181604" y="312667"/>
                  <a:pt x="185527" y="320151"/>
                  <a:pt x="192271" y="324230"/>
                </a:cubicBezTo>
                <a:cubicBezTo>
                  <a:pt x="199015" y="328309"/>
                  <a:pt x="207465" y="328309"/>
                  <a:pt x="214208" y="324230"/>
                </a:cubicBezTo>
                <a:cubicBezTo>
                  <a:pt x="220952" y="320151"/>
                  <a:pt x="224875" y="312667"/>
                  <a:pt x="224393" y="304800"/>
                </a:cubicBezTo>
                <a:close/>
              </a:path>
            </a:pathLst>
          </a:custGeom>
          <a:solidFill>
            <a:srgbClr val="E85D4E"/>
          </a:solidFill>
          <a:ln/>
        </p:spPr>
      </p:sp>
      <p:sp>
        <p:nvSpPr>
          <p:cNvPr id="16" name="Text 14"/>
          <p:cNvSpPr/>
          <p:nvPr/>
        </p:nvSpPr>
        <p:spPr>
          <a:xfrm>
            <a:off x="11049000" y="3302000"/>
            <a:ext cx="419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Fear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049000" y="3810000"/>
            <a:ext cx="4191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Threatening account suspension, security breaches, or legal consequences.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62000" y="5334000"/>
            <a:ext cx="4699000" cy="2540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9" name="Shape 17"/>
          <p:cNvSpPr/>
          <p:nvPr/>
        </p:nvSpPr>
        <p:spPr>
          <a:xfrm>
            <a:off x="1016000" y="5588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330200" y="165100"/>
                </a:moveTo>
                <a:cubicBezTo>
                  <a:pt x="330200" y="201533"/>
                  <a:pt x="318373" y="235188"/>
                  <a:pt x="298450" y="262493"/>
                </a:cubicBezTo>
                <a:lnTo>
                  <a:pt x="398939" y="363061"/>
                </a:lnTo>
                <a:cubicBezTo>
                  <a:pt x="408861" y="372983"/>
                  <a:pt x="408861" y="389096"/>
                  <a:pt x="398939" y="399018"/>
                </a:cubicBezTo>
                <a:cubicBezTo>
                  <a:pt x="389017" y="408940"/>
                  <a:pt x="372904" y="408940"/>
                  <a:pt x="362982" y="399018"/>
                </a:cubicBezTo>
                <a:lnTo>
                  <a:pt x="262493" y="298450"/>
                </a:lnTo>
                <a:cubicBezTo>
                  <a:pt x="235188" y="318373"/>
                  <a:pt x="201533" y="330200"/>
                  <a:pt x="165100" y="330200"/>
                </a:cubicBezTo>
                <a:cubicBezTo>
                  <a:pt x="73898" y="330200"/>
                  <a:pt x="0" y="256302"/>
                  <a:pt x="0" y="165100"/>
                </a:cubicBezTo>
                <a:cubicBezTo>
                  <a:pt x="0" y="73898"/>
                  <a:pt x="73898" y="0"/>
                  <a:pt x="165100" y="0"/>
                </a:cubicBezTo>
                <a:cubicBezTo>
                  <a:pt x="256302" y="0"/>
                  <a:pt x="330200" y="73898"/>
                  <a:pt x="330200" y="165100"/>
                </a:cubicBezTo>
                <a:close/>
                <a:moveTo>
                  <a:pt x="165100" y="279400"/>
                </a:moveTo>
                <a:cubicBezTo>
                  <a:pt x="228184" y="279400"/>
                  <a:pt x="279400" y="228184"/>
                  <a:pt x="279400" y="165100"/>
                </a:cubicBezTo>
                <a:cubicBezTo>
                  <a:pt x="279400" y="102016"/>
                  <a:pt x="228184" y="50800"/>
                  <a:pt x="165100" y="50800"/>
                </a:cubicBezTo>
                <a:cubicBezTo>
                  <a:pt x="102016" y="50800"/>
                  <a:pt x="50800" y="102016"/>
                  <a:pt x="50800" y="165100"/>
                </a:cubicBezTo>
                <a:cubicBezTo>
                  <a:pt x="50800" y="228184"/>
                  <a:pt x="102016" y="279400"/>
                  <a:pt x="165100" y="279400"/>
                </a:cubicBezTo>
                <a:close/>
              </a:path>
            </a:pathLst>
          </a:custGeom>
          <a:solidFill>
            <a:srgbClr val="0D7377"/>
          </a:solidFill>
          <a:ln/>
        </p:spPr>
      </p:sp>
      <p:sp>
        <p:nvSpPr>
          <p:cNvPr id="20" name="Text 18"/>
          <p:cNvSpPr/>
          <p:nvPr/>
        </p:nvSpPr>
        <p:spPr>
          <a:xfrm>
            <a:off x="1016000" y="6159500"/>
            <a:ext cx="419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Curiosity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16000" y="6667500"/>
            <a:ext cx="4191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Enticing clicks with provocative subjects, mysterious attachments, or "you won't believe this" hooks.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778500" y="5334000"/>
            <a:ext cx="4699000" cy="2540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3" name="Shape 21"/>
          <p:cNvSpPr/>
          <p:nvPr/>
        </p:nvSpPr>
        <p:spPr>
          <a:xfrm>
            <a:off x="6007100" y="55880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213439" y="67628"/>
                </a:moveTo>
                <a:lnTo>
                  <a:pt x="120888" y="170498"/>
                </a:lnTo>
                <a:cubicBezTo>
                  <a:pt x="117237" y="174546"/>
                  <a:pt x="117396" y="180816"/>
                  <a:pt x="121285" y="184706"/>
                </a:cubicBezTo>
                <a:cubicBezTo>
                  <a:pt x="145494" y="208915"/>
                  <a:pt x="184785" y="208915"/>
                  <a:pt x="208994" y="184706"/>
                </a:cubicBezTo>
                <a:lnTo>
                  <a:pt x="234236" y="159464"/>
                </a:lnTo>
                <a:cubicBezTo>
                  <a:pt x="237569" y="156131"/>
                  <a:pt x="241776" y="154305"/>
                  <a:pt x="246063" y="153988"/>
                </a:cubicBezTo>
                <a:cubicBezTo>
                  <a:pt x="251460" y="153511"/>
                  <a:pt x="257016" y="155337"/>
                  <a:pt x="261144" y="159464"/>
                </a:cubicBezTo>
                <a:lnTo>
                  <a:pt x="401320" y="298450"/>
                </a:lnTo>
                <a:lnTo>
                  <a:pt x="457200" y="254000"/>
                </a:lnTo>
                <a:lnTo>
                  <a:pt x="457200" y="25400"/>
                </a:lnTo>
                <a:lnTo>
                  <a:pt x="368300" y="76200"/>
                </a:lnTo>
                <a:lnTo>
                  <a:pt x="349409" y="63579"/>
                </a:lnTo>
                <a:cubicBezTo>
                  <a:pt x="336867" y="55245"/>
                  <a:pt x="322183" y="50800"/>
                  <a:pt x="307102" y="50800"/>
                </a:cubicBezTo>
                <a:lnTo>
                  <a:pt x="251222" y="50800"/>
                </a:lnTo>
                <a:cubicBezTo>
                  <a:pt x="250349" y="50800"/>
                  <a:pt x="249396" y="50800"/>
                  <a:pt x="248523" y="50879"/>
                </a:cubicBezTo>
                <a:cubicBezTo>
                  <a:pt x="235109" y="51594"/>
                  <a:pt x="222488" y="57626"/>
                  <a:pt x="213439" y="67627"/>
                </a:cubicBezTo>
                <a:close/>
                <a:moveTo>
                  <a:pt x="92551" y="145018"/>
                </a:moveTo>
                <a:lnTo>
                  <a:pt x="177324" y="50800"/>
                </a:lnTo>
                <a:lnTo>
                  <a:pt x="145891" y="50800"/>
                </a:lnTo>
                <a:cubicBezTo>
                  <a:pt x="125651" y="50800"/>
                  <a:pt x="106283" y="58817"/>
                  <a:pt x="91996" y="73104"/>
                </a:cubicBezTo>
                <a:lnTo>
                  <a:pt x="88900" y="76200"/>
                </a:lnTo>
                <a:lnTo>
                  <a:pt x="0" y="25400"/>
                </a:lnTo>
                <a:lnTo>
                  <a:pt x="0" y="254000"/>
                </a:lnTo>
                <a:lnTo>
                  <a:pt x="124143" y="357426"/>
                </a:lnTo>
                <a:cubicBezTo>
                  <a:pt x="142399" y="372666"/>
                  <a:pt x="165418" y="381000"/>
                  <a:pt x="189151" y="381000"/>
                </a:cubicBezTo>
                <a:lnTo>
                  <a:pt x="201613" y="381000"/>
                </a:lnTo>
                <a:lnTo>
                  <a:pt x="196056" y="375444"/>
                </a:lnTo>
                <a:cubicBezTo>
                  <a:pt x="188595" y="367983"/>
                  <a:pt x="188595" y="355918"/>
                  <a:pt x="196056" y="348536"/>
                </a:cubicBezTo>
                <a:cubicBezTo>
                  <a:pt x="203518" y="341154"/>
                  <a:pt x="215583" y="341074"/>
                  <a:pt x="222964" y="348536"/>
                </a:cubicBezTo>
                <a:lnTo>
                  <a:pt x="255508" y="381079"/>
                </a:lnTo>
                <a:lnTo>
                  <a:pt x="262652" y="381079"/>
                </a:lnTo>
                <a:cubicBezTo>
                  <a:pt x="277813" y="381079"/>
                  <a:pt x="292656" y="377666"/>
                  <a:pt x="306149" y="371316"/>
                </a:cubicBezTo>
                <a:lnTo>
                  <a:pt x="284956" y="350044"/>
                </a:lnTo>
                <a:cubicBezTo>
                  <a:pt x="277495" y="342583"/>
                  <a:pt x="277495" y="330518"/>
                  <a:pt x="284956" y="323136"/>
                </a:cubicBezTo>
                <a:cubicBezTo>
                  <a:pt x="292418" y="315754"/>
                  <a:pt x="304483" y="315674"/>
                  <a:pt x="311864" y="323136"/>
                </a:cubicBezTo>
                <a:lnTo>
                  <a:pt x="337264" y="348536"/>
                </a:lnTo>
                <a:lnTo>
                  <a:pt x="351155" y="334645"/>
                </a:lnTo>
                <a:cubicBezTo>
                  <a:pt x="358219" y="327581"/>
                  <a:pt x="360283" y="317341"/>
                  <a:pt x="357188" y="308372"/>
                </a:cubicBezTo>
                <a:lnTo>
                  <a:pt x="247729" y="199787"/>
                </a:lnTo>
                <a:lnTo>
                  <a:pt x="235903" y="211614"/>
                </a:lnTo>
                <a:cubicBezTo>
                  <a:pt x="196771" y="250746"/>
                  <a:pt x="133429" y="250746"/>
                  <a:pt x="94298" y="211614"/>
                </a:cubicBezTo>
                <a:cubicBezTo>
                  <a:pt x="76041" y="193357"/>
                  <a:pt x="75327" y="164068"/>
                  <a:pt x="92551" y="144939"/>
                </a:cubicBezTo>
                <a:close/>
              </a:path>
            </a:pathLst>
          </a:custGeom>
          <a:solidFill>
            <a:srgbClr val="0D7377"/>
          </a:solidFill>
          <a:ln/>
        </p:spPr>
      </p:sp>
      <p:sp>
        <p:nvSpPr>
          <p:cNvPr id="24" name="Text 22"/>
          <p:cNvSpPr/>
          <p:nvPr/>
        </p:nvSpPr>
        <p:spPr>
          <a:xfrm>
            <a:off x="6032500" y="6159500"/>
            <a:ext cx="419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Trust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032500" y="6667500"/>
            <a:ext cx="4191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Impersonating colleagues, friends, or known brands to lower defenses.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0795000" y="5334000"/>
            <a:ext cx="4699000" cy="2540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7" name="Shape 25"/>
          <p:cNvSpPr/>
          <p:nvPr/>
        </p:nvSpPr>
        <p:spPr>
          <a:xfrm>
            <a:off x="11049000" y="5588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55191" y="54610"/>
                </a:moveTo>
                <a:cubicBezTo>
                  <a:pt x="261223" y="44371"/>
                  <a:pt x="272177" y="38100"/>
                  <a:pt x="284004" y="38100"/>
                </a:cubicBezTo>
                <a:lnTo>
                  <a:pt x="285750" y="38100"/>
                </a:lnTo>
                <a:cubicBezTo>
                  <a:pt x="303292" y="38100"/>
                  <a:pt x="317500" y="52308"/>
                  <a:pt x="317500" y="69850"/>
                </a:cubicBezTo>
                <a:cubicBezTo>
                  <a:pt x="317500" y="87392"/>
                  <a:pt x="303292" y="101600"/>
                  <a:pt x="285750" y="101600"/>
                </a:cubicBezTo>
                <a:lnTo>
                  <a:pt x="227568" y="101600"/>
                </a:lnTo>
                <a:lnTo>
                  <a:pt x="255191" y="54610"/>
                </a:lnTo>
                <a:close/>
                <a:moveTo>
                  <a:pt x="151209" y="54610"/>
                </a:moveTo>
                <a:lnTo>
                  <a:pt x="178832" y="101600"/>
                </a:lnTo>
                <a:lnTo>
                  <a:pt x="120650" y="101600"/>
                </a:lnTo>
                <a:cubicBezTo>
                  <a:pt x="103108" y="101600"/>
                  <a:pt x="88900" y="87392"/>
                  <a:pt x="88900" y="69850"/>
                </a:cubicBezTo>
                <a:cubicBezTo>
                  <a:pt x="88900" y="52308"/>
                  <a:pt x="103108" y="38100"/>
                  <a:pt x="120650" y="38100"/>
                </a:cubicBezTo>
                <a:lnTo>
                  <a:pt x="122396" y="38100"/>
                </a:lnTo>
                <a:cubicBezTo>
                  <a:pt x="134223" y="38100"/>
                  <a:pt x="145256" y="44371"/>
                  <a:pt x="151209" y="54610"/>
                </a:cubicBezTo>
                <a:close/>
                <a:moveTo>
                  <a:pt x="222329" y="35322"/>
                </a:moveTo>
                <a:lnTo>
                  <a:pt x="203200" y="67866"/>
                </a:lnTo>
                <a:lnTo>
                  <a:pt x="184071" y="35322"/>
                </a:lnTo>
                <a:cubicBezTo>
                  <a:pt x="171212" y="13414"/>
                  <a:pt x="147717" y="0"/>
                  <a:pt x="122396" y="0"/>
                </a:cubicBezTo>
                <a:lnTo>
                  <a:pt x="120650" y="0"/>
                </a:lnTo>
                <a:cubicBezTo>
                  <a:pt x="82074" y="0"/>
                  <a:pt x="50800" y="31274"/>
                  <a:pt x="50800" y="69850"/>
                </a:cubicBezTo>
                <a:cubicBezTo>
                  <a:pt x="50800" y="81280"/>
                  <a:pt x="53578" y="92075"/>
                  <a:pt x="58420" y="101600"/>
                </a:cubicBezTo>
                <a:lnTo>
                  <a:pt x="25400" y="101600"/>
                </a:lnTo>
                <a:cubicBezTo>
                  <a:pt x="11351" y="101600"/>
                  <a:pt x="0" y="112951"/>
                  <a:pt x="0" y="127000"/>
                </a:cubicBezTo>
                <a:lnTo>
                  <a:pt x="0" y="152400"/>
                </a:lnTo>
                <a:cubicBezTo>
                  <a:pt x="0" y="166449"/>
                  <a:pt x="11351" y="177800"/>
                  <a:pt x="25400" y="177800"/>
                </a:cubicBezTo>
                <a:lnTo>
                  <a:pt x="381000" y="177800"/>
                </a:lnTo>
                <a:cubicBezTo>
                  <a:pt x="395049" y="177800"/>
                  <a:pt x="406400" y="166449"/>
                  <a:pt x="406400" y="152400"/>
                </a:cubicBezTo>
                <a:lnTo>
                  <a:pt x="406400" y="127000"/>
                </a:lnTo>
                <a:cubicBezTo>
                  <a:pt x="406400" y="112951"/>
                  <a:pt x="395049" y="101600"/>
                  <a:pt x="381000" y="101600"/>
                </a:cubicBezTo>
                <a:lnTo>
                  <a:pt x="347980" y="101600"/>
                </a:lnTo>
                <a:cubicBezTo>
                  <a:pt x="352822" y="92075"/>
                  <a:pt x="355600" y="81280"/>
                  <a:pt x="355600" y="69850"/>
                </a:cubicBezTo>
                <a:cubicBezTo>
                  <a:pt x="355600" y="31274"/>
                  <a:pt x="324326" y="0"/>
                  <a:pt x="285750" y="0"/>
                </a:cubicBezTo>
                <a:lnTo>
                  <a:pt x="284004" y="0"/>
                </a:lnTo>
                <a:cubicBezTo>
                  <a:pt x="258683" y="0"/>
                  <a:pt x="235188" y="13414"/>
                  <a:pt x="222329" y="35243"/>
                </a:cubicBezTo>
                <a:close/>
                <a:moveTo>
                  <a:pt x="381000" y="215900"/>
                </a:moveTo>
                <a:lnTo>
                  <a:pt x="222250" y="215900"/>
                </a:lnTo>
                <a:lnTo>
                  <a:pt x="222250" y="381000"/>
                </a:lnTo>
                <a:lnTo>
                  <a:pt x="330200" y="381000"/>
                </a:lnTo>
                <a:cubicBezTo>
                  <a:pt x="358219" y="381000"/>
                  <a:pt x="381000" y="358219"/>
                  <a:pt x="381000" y="330200"/>
                </a:cubicBezTo>
                <a:lnTo>
                  <a:pt x="381000" y="215900"/>
                </a:lnTo>
                <a:close/>
                <a:moveTo>
                  <a:pt x="184150" y="215900"/>
                </a:moveTo>
                <a:lnTo>
                  <a:pt x="25400" y="215900"/>
                </a:lnTo>
                <a:lnTo>
                  <a:pt x="25400" y="330200"/>
                </a:lnTo>
                <a:cubicBezTo>
                  <a:pt x="25400" y="358219"/>
                  <a:pt x="48181" y="381000"/>
                  <a:pt x="76200" y="381000"/>
                </a:cubicBezTo>
                <a:lnTo>
                  <a:pt x="184150" y="381000"/>
                </a:lnTo>
                <a:lnTo>
                  <a:pt x="184150" y="215900"/>
                </a:lnTo>
                <a:close/>
              </a:path>
            </a:pathLst>
          </a:custGeom>
          <a:solidFill>
            <a:srgbClr val="0D7377"/>
          </a:solidFill>
          <a:ln/>
        </p:spPr>
      </p:sp>
      <p:sp>
        <p:nvSpPr>
          <p:cNvPr id="28" name="Text 26"/>
          <p:cNvSpPr/>
          <p:nvPr/>
        </p:nvSpPr>
        <p:spPr>
          <a:xfrm>
            <a:off x="11049000" y="6159500"/>
            <a:ext cx="419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Reciprocity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1049000" y="6667500"/>
            <a:ext cx="4191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Offering fake rewards, assistance, or exclusive deals to create obligation.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4986000" y="8636000"/>
            <a:ext cx="76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4A556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11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ambyjsecdlbwi/mnt/agents/output/phishing-awareness/images/7_30_997_Scam_Background_Royalty_Free.png">    </p:cNvPr>
          <p:cNvPicPr>
            <a:picLocks noChangeAspect="1"/>
          </p:cNvPicPr>
          <p:nvPr/>
        </p:nvPicPr>
        <p:blipFill>
          <a:blip r:embed="rId1"/>
          <a:srcRect l="0" r="0" t="5000" b="500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A1A2E">
                  <a:alpha val="38000"/>
                </a:srgbClr>
              </a:gs>
              <a:gs pos="50000">
                <a:srgbClr val="1A1A2E">
                  <a:alpha val="80000"/>
                </a:srgbClr>
              </a:gs>
              <a:gs pos="100000">
                <a:srgbClr val="1A1A2E">
                  <a:alpha val="94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2000" y="1524000"/>
            <a:ext cx="5080000" cy="254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0" dirty="0">
                <a:solidFill>
                  <a:srgbClr val="FFFFFF">
                    <a:alpha val="15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762000" y="43180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spc="200" kern="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 FOUR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62000" y="4762500"/>
            <a:ext cx="1143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4800" spc="4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REAL-WORLD EXAMPLES</a:t>
            </a:r>
            <a:endParaRPr lang="en-US" sz="5200" dirty="0"/>
          </a:p>
        </p:txBody>
      </p:sp>
      <p:sp>
        <p:nvSpPr>
          <p:cNvPr id="7" name="Shape 4"/>
          <p:cNvSpPr/>
          <p:nvPr/>
        </p:nvSpPr>
        <p:spPr>
          <a:xfrm>
            <a:off x="762000" y="5842000"/>
            <a:ext cx="1016000" cy="508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8" name="Text 5"/>
          <p:cNvSpPr/>
          <p:nvPr/>
        </p:nvSpPr>
        <p:spPr>
          <a:xfrm>
            <a:off x="762000" y="60960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FFFFFF">
                    <a:alpha val="8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Lessons from major breaches</a:t>
            </a:r>
            <a:endParaRPr lang="en-US" sz="22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800" cy="91440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571500"/>
            <a:ext cx="1143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Famous Phishing Cases &amp; Their Impact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270000"/>
            <a:ext cx="635000" cy="381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587500"/>
            <a:ext cx="7112000" cy="1778000"/>
          </a:xfrm>
          <a:prstGeom prst="rect">
            <a:avLst/>
          </a:prstGeom>
          <a:solidFill>
            <a:srgbClr val="E8E8E3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587500"/>
            <a:ext cx="50800" cy="1778000"/>
          </a:xfrm>
          <a:prstGeom prst="rect">
            <a:avLst/>
          </a:prstGeom>
          <a:solidFill>
            <a:srgbClr val="E85D4E"/>
          </a:solidFill>
          <a:ln/>
        </p:spPr>
      </p:sp>
      <p:sp>
        <p:nvSpPr>
          <p:cNvPr id="7" name="Text 5"/>
          <p:cNvSpPr/>
          <p:nvPr/>
        </p:nvSpPr>
        <p:spPr>
          <a:xfrm>
            <a:off x="1079500" y="1714500"/>
            <a:ext cx="660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MGM Resorts International </a:t>
            </a:r>
            <a:pPr>
              <a:lnSpc>
                <a:spcPct val="100000"/>
              </a:lnSpc>
            </a:pPr>
            <a:r>
              <a:rPr lang="en-US" sz="1400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(2023)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79500" y="2159000"/>
            <a:ext cx="6604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Voice phishing by the "Scattered Spider" group disrupted casino and hotel operations nationwide. Attackers used social engineering to bypass identity verification.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382000" y="1587500"/>
            <a:ext cx="7112000" cy="1778000"/>
          </a:xfrm>
          <a:prstGeom prst="rect">
            <a:avLst/>
          </a:prstGeom>
          <a:solidFill>
            <a:srgbClr val="E8E8E3"/>
          </a:solidFill>
          <a:ln/>
        </p:spPr>
      </p:sp>
      <p:sp>
        <p:nvSpPr>
          <p:cNvPr id="10" name="Shape 8"/>
          <p:cNvSpPr/>
          <p:nvPr/>
        </p:nvSpPr>
        <p:spPr>
          <a:xfrm>
            <a:off x="8382000" y="1587500"/>
            <a:ext cx="50800" cy="1778000"/>
          </a:xfrm>
          <a:prstGeom prst="rect">
            <a:avLst/>
          </a:prstGeom>
          <a:solidFill>
            <a:srgbClr val="E85D4E"/>
          </a:solidFill>
          <a:ln/>
        </p:spPr>
      </p:sp>
      <p:sp>
        <p:nvSpPr>
          <p:cNvPr id="11" name="Text 9"/>
          <p:cNvSpPr/>
          <p:nvPr/>
        </p:nvSpPr>
        <p:spPr>
          <a:xfrm>
            <a:off x="8699500" y="1714500"/>
            <a:ext cx="660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Hospital Sisters Health System </a:t>
            </a:r>
            <a:pPr>
              <a:lnSpc>
                <a:spcPct val="100000"/>
              </a:lnSpc>
            </a:pPr>
            <a:r>
              <a:rPr lang="en-US" sz="1400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(2023)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699500" y="2159000"/>
            <a:ext cx="660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882,000 patients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were notified of a data breach exposing names, birthdates, SSNs, medical records, and insurance details.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2000" y="3683000"/>
            <a:ext cx="7112000" cy="1778000"/>
          </a:xfrm>
          <a:prstGeom prst="rect">
            <a:avLst/>
          </a:prstGeom>
          <a:solidFill>
            <a:srgbClr val="E8E8E3"/>
          </a:solidFill>
          <a:ln/>
        </p:spPr>
      </p:sp>
      <p:sp>
        <p:nvSpPr>
          <p:cNvPr id="14" name="Shape 12"/>
          <p:cNvSpPr/>
          <p:nvPr/>
        </p:nvSpPr>
        <p:spPr>
          <a:xfrm>
            <a:off x="762000" y="3683000"/>
            <a:ext cx="50800" cy="1778000"/>
          </a:xfrm>
          <a:prstGeom prst="rect">
            <a:avLst/>
          </a:prstGeom>
          <a:solidFill>
            <a:srgbClr val="E85D4E"/>
          </a:solidFill>
          <a:ln/>
        </p:spPr>
      </p:sp>
      <p:sp>
        <p:nvSpPr>
          <p:cNvPr id="15" name="Text 13"/>
          <p:cNvSpPr/>
          <p:nvPr/>
        </p:nvSpPr>
        <p:spPr>
          <a:xfrm>
            <a:off x="1079500" y="3810000"/>
            <a:ext cx="660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Grubhub </a:t>
            </a:r>
            <a:pPr>
              <a:lnSpc>
                <a:spcPct val="100000"/>
              </a:lnSpc>
            </a:pPr>
            <a:r>
              <a:rPr lang="en-US" sz="1400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(2025)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79500" y="4254500"/>
            <a:ext cx="660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compromised third-party service provider exposed customer, driver, and merchant data—including partial payment card information.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382000" y="3683000"/>
            <a:ext cx="7112000" cy="1778000"/>
          </a:xfrm>
          <a:prstGeom prst="rect">
            <a:avLst/>
          </a:prstGeom>
          <a:solidFill>
            <a:srgbClr val="E8E8E3"/>
          </a:solidFill>
          <a:ln/>
        </p:spPr>
      </p:sp>
      <p:sp>
        <p:nvSpPr>
          <p:cNvPr id="18" name="Shape 16"/>
          <p:cNvSpPr/>
          <p:nvPr/>
        </p:nvSpPr>
        <p:spPr>
          <a:xfrm>
            <a:off x="8382000" y="3683000"/>
            <a:ext cx="50800" cy="1778000"/>
          </a:xfrm>
          <a:prstGeom prst="rect">
            <a:avLst/>
          </a:prstGeom>
          <a:solidFill>
            <a:srgbClr val="E85D4E"/>
          </a:solidFill>
          <a:ln/>
        </p:spPr>
      </p:sp>
      <p:sp>
        <p:nvSpPr>
          <p:cNvPr id="19" name="Text 17"/>
          <p:cNvSpPr/>
          <p:nvPr/>
        </p:nvSpPr>
        <p:spPr>
          <a:xfrm>
            <a:off x="8699500" y="3810000"/>
            <a:ext cx="660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Casio UK </a:t>
            </a:r>
            <a:pPr>
              <a:lnSpc>
                <a:spcPct val="100000"/>
              </a:lnSpc>
            </a:pPr>
            <a:r>
              <a:rPr lang="en-US" sz="1400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(2025)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699500" y="4254500"/>
            <a:ext cx="6604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E-shop hacked with malicious scripts stealing credit card and customer details over a 10-day period. Part of a larger campaign hitting 17+ e-commerce sites.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62000" y="5778500"/>
            <a:ext cx="14732000" cy="1397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2" name="Text 20"/>
          <p:cNvSpPr/>
          <p:nvPr/>
        </p:nvSpPr>
        <p:spPr>
          <a:xfrm>
            <a:off x="1079500" y="59055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Finastra </a:t>
            </a:r>
            <a:pPr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667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(2024)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79500" y="6350000"/>
            <a:ext cx="14097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British fintech firm suffered unauthorized access to its Secure File Transfer Platform, compromising sensitive customer information.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62000" y="7493000"/>
            <a:ext cx="14732000" cy="635000"/>
          </a:xfrm>
          <a:prstGeom prst="rect">
            <a:avLst/>
          </a:prstGeom>
          <a:solidFill>
            <a:srgbClr val="E85D4E">
              <a:alpha val="12549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060450" y="76200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203428" y="266700"/>
                </a:moveTo>
                <a:cubicBezTo>
                  <a:pt x="208498" y="251212"/>
                  <a:pt x="218638" y="237182"/>
                  <a:pt x="230098" y="225098"/>
                </a:cubicBezTo>
                <a:cubicBezTo>
                  <a:pt x="252809" y="201206"/>
                  <a:pt x="266700" y="168910"/>
                  <a:pt x="266700" y="133350"/>
                </a:cubicBezTo>
                <a:cubicBezTo>
                  <a:pt x="266700" y="59730"/>
                  <a:pt x="206970" y="0"/>
                  <a:pt x="133350" y="0"/>
                </a:cubicBezTo>
                <a:cubicBezTo>
                  <a:pt x="59730" y="0"/>
                  <a:pt x="0" y="59730"/>
                  <a:pt x="0" y="133350"/>
                </a:cubicBezTo>
                <a:cubicBezTo>
                  <a:pt x="0" y="168910"/>
                  <a:pt x="13891" y="201206"/>
                  <a:pt x="36602" y="225098"/>
                </a:cubicBezTo>
                <a:cubicBezTo>
                  <a:pt x="48062" y="237182"/>
                  <a:pt x="58271" y="251212"/>
                  <a:pt x="63272" y="266700"/>
                </a:cubicBezTo>
                <a:lnTo>
                  <a:pt x="203359" y="266700"/>
                </a:lnTo>
                <a:close/>
                <a:moveTo>
                  <a:pt x="200025" y="300038"/>
                </a:moveTo>
                <a:lnTo>
                  <a:pt x="66675" y="300038"/>
                </a:lnTo>
                <a:lnTo>
                  <a:pt x="66675" y="311150"/>
                </a:lnTo>
                <a:cubicBezTo>
                  <a:pt x="66675" y="341848"/>
                  <a:pt x="91539" y="366712"/>
                  <a:pt x="122238" y="366712"/>
                </a:cubicBezTo>
                <a:lnTo>
                  <a:pt x="144463" y="366712"/>
                </a:lnTo>
                <a:cubicBezTo>
                  <a:pt x="175161" y="366712"/>
                  <a:pt x="200025" y="341848"/>
                  <a:pt x="200025" y="311150"/>
                </a:cubicBezTo>
                <a:lnTo>
                  <a:pt x="200025" y="300038"/>
                </a:lnTo>
                <a:close/>
                <a:moveTo>
                  <a:pt x="127794" y="77788"/>
                </a:moveTo>
                <a:cubicBezTo>
                  <a:pt x="100151" y="77788"/>
                  <a:pt x="77788" y="100151"/>
                  <a:pt x="77788" y="127794"/>
                </a:cubicBezTo>
                <a:cubicBezTo>
                  <a:pt x="77788" y="137031"/>
                  <a:pt x="70356" y="144463"/>
                  <a:pt x="61119" y="144463"/>
                </a:cubicBezTo>
                <a:cubicBezTo>
                  <a:pt x="51881" y="144463"/>
                  <a:pt x="44450" y="137031"/>
                  <a:pt x="44450" y="127794"/>
                </a:cubicBezTo>
                <a:cubicBezTo>
                  <a:pt x="44450" y="81746"/>
                  <a:pt x="81746" y="44450"/>
                  <a:pt x="127794" y="44450"/>
                </a:cubicBezTo>
                <a:cubicBezTo>
                  <a:pt x="137031" y="44450"/>
                  <a:pt x="144463" y="51881"/>
                  <a:pt x="144463" y="61119"/>
                </a:cubicBezTo>
                <a:cubicBezTo>
                  <a:pt x="144463" y="70356"/>
                  <a:pt x="137031" y="77788"/>
                  <a:pt x="127794" y="77788"/>
                </a:cubicBezTo>
                <a:close/>
              </a:path>
            </a:pathLst>
          </a:custGeom>
          <a:solidFill>
            <a:srgbClr val="E85D4E"/>
          </a:solidFill>
          <a:ln/>
        </p:spPr>
      </p:sp>
      <p:sp>
        <p:nvSpPr>
          <p:cNvPr id="26" name="Text 24"/>
          <p:cNvSpPr/>
          <p:nvPr/>
        </p:nvSpPr>
        <p:spPr>
          <a:xfrm>
            <a:off x="1524000" y="7493000"/>
            <a:ext cx="137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E85D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Insight:</a:t>
            </a:r>
            <a:pPr>
              <a:lnSpc>
                <a:spcPct val="100000"/>
              </a:lnSpc>
            </a:pPr>
            <a:r>
              <a:rPr lang="en-US" sz="1600" dirty="0">
                <a:solidFill>
                  <a:srgbClr val="E85D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Phishing targets every industry—from hospitality to healthcare to finance. No organization is immune.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62000" y="8318500"/>
            <a:ext cx="7620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4A556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Source: </a:t>
            </a:r>
            <a:pPr>
              <a:lnSpc>
                <a:spcPct val="140000"/>
              </a:lnSpc>
            </a:pPr>
            <a:r>
              <a:rPr lang="en-US" sz="1400" u="sng" dirty="0">
                <a:solidFill>
                  <a:srgbClr val="4A556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  <a:hlinkClick r:id="rId1" tooltip="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PowerDMARC Phishing Examples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4986000" y="8636000"/>
            <a:ext cx="76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4A556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13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ambyjsecdlbwi/mnt/agents/output/phishing-awareness/images/2_Cyber_security_shield_protection.png">    </p:cNvPr>
          <p:cNvPicPr>
            <a:picLocks noChangeAspect="1"/>
          </p:cNvPicPr>
          <p:nvPr/>
        </p:nvPicPr>
        <p:blipFill>
          <a:blip r:embed="rId1"/>
          <a:srcRect l="0" r="0" t="5000" b="500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A1A2E">
                  <a:alpha val="38000"/>
                </a:srgbClr>
              </a:gs>
              <a:gs pos="50000">
                <a:srgbClr val="1A1A2E">
                  <a:alpha val="80000"/>
                </a:srgbClr>
              </a:gs>
              <a:gs pos="100000">
                <a:srgbClr val="1A1A2E">
                  <a:alpha val="94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2000" y="1524000"/>
            <a:ext cx="5080000" cy="254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0" dirty="0">
                <a:solidFill>
                  <a:srgbClr val="FFFFFF">
                    <a:alpha val="15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762000" y="43180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spc="200" kern="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 FIVE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62000" y="4762500"/>
            <a:ext cx="1270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4800" spc="4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PROTECTION &amp; BEST PRACTICES</a:t>
            </a:r>
            <a:endParaRPr lang="en-US" sz="5200" dirty="0"/>
          </a:p>
        </p:txBody>
      </p:sp>
      <p:sp>
        <p:nvSpPr>
          <p:cNvPr id="7" name="Shape 4"/>
          <p:cNvSpPr/>
          <p:nvPr/>
        </p:nvSpPr>
        <p:spPr>
          <a:xfrm>
            <a:off x="762000" y="5842000"/>
            <a:ext cx="1016000" cy="508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8" name="Text 5"/>
          <p:cNvSpPr/>
          <p:nvPr/>
        </p:nvSpPr>
        <p:spPr>
          <a:xfrm>
            <a:off x="762000" y="60960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FFFFFF">
                    <a:alpha val="8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Build your personal defense system</a:t>
            </a:r>
            <a:endParaRPr lang="en-US" sz="22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800" cy="91440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508000"/>
            <a:ext cx="1143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Best Practices to Avoid Phishing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206500"/>
            <a:ext cx="635000" cy="381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460500"/>
            <a:ext cx="711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PERSONAL HABITS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2000" y="1968500"/>
            <a:ext cx="7112000" cy="622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5000"/>
              </a:lnSpc>
            </a:pPr>
            <a:r>
              <a:rPr lang="en-US" sz="1700" b="1" dirty="0">
                <a:solidFill>
                  <a:srgbClr val="0D73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</a:t>
            </a:r>
            <a:pPr>
              <a:lnSpc>
                <a:spcPct val="155000"/>
              </a:lnSpc>
            </a:pPr>
            <a:r>
              <a:rPr lang="en-US" sz="17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55000"/>
              </a:lnSpc>
            </a:pPr>
            <a:r>
              <a:rPr lang="en-US" sz="17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Slow down</a:t>
            </a:r>
            <a:pPr>
              <a:lnSpc>
                <a:spcPct val="155000"/>
              </a:lnSpc>
            </a:pPr>
            <a:r>
              <a:rPr lang="en-US" sz="17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phishing depends on creating urgency</a:t>
            </a:r>
            <a:endParaRPr lang="en-US" sz="1600" dirty="0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700" b="1" dirty="0">
                <a:solidFill>
                  <a:srgbClr val="0D73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</a:t>
            </a:r>
            <a:pPr>
              <a:lnSpc>
                <a:spcPct val="155000"/>
              </a:lnSpc>
              <a:spcBef>
                <a:spcPts val="600"/>
              </a:spcBef>
            </a:pPr>
            <a:r>
              <a:rPr lang="en-US" sz="17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55000"/>
              </a:lnSpc>
              <a:spcBef>
                <a:spcPts val="600"/>
              </a:spcBef>
            </a:pPr>
            <a:r>
              <a:rPr lang="en-US" sz="17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Never click</a:t>
            </a:r>
            <a:pPr>
              <a:lnSpc>
                <a:spcPct val="155000"/>
              </a:lnSpc>
              <a:spcBef>
                <a:spcPts val="600"/>
              </a:spcBef>
            </a:pPr>
            <a:r>
              <a:rPr lang="en-US" sz="17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unexpected links or open attachments</a:t>
            </a:r>
            <a:endParaRPr lang="en-US" sz="1600" dirty="0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700" b="1" dirty="0">
                <a:solidFill>
                  <a:srgbClr val="0D73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</a:t>
            </a:r>
            <a:pPr>
              <a:lnSpc>
                <a:spcPct val="155000"/>
              </a:lnSpc>
              <a:spcBef>
                <a:spcPts val="600"/>
              </a:spcBef>
            </a:pPr>
            <a:r>
              <a:rPr lang="en-US" sz="17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55000"/>
              </a:lnSpc>
              <a:spcBef>
                <a:spcPts val="600"/>
              </a:spcBef>
            </a:pPr>
            <a:r>
              <a:rPr lang="en-US" sz="17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Hover over links</a:t>
            </a:r>
            <a:pPr>
              <a:lnSpc>
                <a:spcPct val="155000"/>
              </a:lnSpc>
              <a:spcBef>
                <a:spcPts val="600"/>
              </a:spcBef>
            </a:pPr>
            <a:r>
              <a:rPr lang="en-US" sz="17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verify the actual URL destination</a:t>
            </a:r>
            <a:endParaRPr lang="en-US" sz="1600" dirty="0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700" b="1" dirty="0">
                <a:solidFill>
                  <a:srgbClr val="0D73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</a:t>
            </a:r>
            <a:pPr>
              <a:lnSpc>
                <a:spcPct val="155000"/>
              </a:lnSpc>
              <a:spcBef>
                <a:spcPts val="600"/>
              </a:spcBef>
            </a:pPr>
            <a:r>
              <a:rPr lang="en-US" sz="17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55000"/>
              </a:lnSpc>
              <a:spcBef>
                <a:spcPts val="600"/>
              </a:spcBef>
            </a:pPr>
            <a:r>
              <a:rPr lang="en-US" sz="17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Verify sender identity</a:t>
            </a:r>
            <a:pPr>
              <a:lnSpc>
                <a:spcPct val="155000"/>
              </a:lnSpc>
              <a:spcBef>
                <a:spcPts val="600"/>
              </a:spcBef>
            </a:pPr>
            <a:r>
              <a:rPr lang="en-US" sz="17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through a separate channel</a:t>
            </a:r>
            <a:endParaRPr lang="en-US" sz="1600" dirty="0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700" b="1" dirty="0">
                <a:solidFill>
                  <a:srgbClr val="0D73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5.</a:t>
            </a:r>
            <a:pPr>
              <a:lnSpc>
                <a:spcPct val="155000"/>
              </a:lnSpc>
              <a:spcBef>
                <a:spcPts val="600"/>
              </a:spcBef>
            </a:pPr>
            <a:r>
              <a:rPr lang="en-US" sz="17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55000"/>
              </a:lnSpc>
              <a:spcBef>
                <a:spcPts val="600"/>
              </a:spcBef>
            </a:pPr>
            <a:r>
              <a:rPr lang="en-US" sz="17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unique, strong passwords</a:t>
            </a:r>
            <a:pPr>
              <a:lnSpc>
                <a:spcPct val="155000"/>
              </a:lnSpc>
              <a:spcBef>
                <a:spcPts val="600"/>
              </a:spcBef>
            </a:pPr>
            <a:r>
              <a:rPr lang="en-US" sz="17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every account</a:t>
            </a:r>
            <a:endParaRPr lang="en-US" sz="1600" dirty="0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700" b="1" dirty="0">
                <a:solidFill>
                  <a:srgbClr val="0D73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6.</a:t>
            </a:r>
            <a:pPr>
              <a:lnSpc>
                <a:spcPct val="155000"/>
              </a:lnSpc>
              <a:spcBef>
                <a:spcPts val="600"/>
              </a:spcBef>
            </a:pPr>
            <a:r>
              <a:rPr lang="en-US" sz="17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55000"/>
              </a:lnSpc>
              <a:spcBef>
                <a:spcPts val="600"/>
              </a:spcBef>
            </a:pPr>
            <a:r>
              <a:rPr lang="en-US" sz="17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Enable MFA</a:t>
            </a:r>
            <a:pPr>
              <a:lnSpc>
                <a:spcPct val="155000"/>
              </a:lnSpc>
              <a:spcBef>
                <a:spcPts val="600"/>
              </a:spcBef>
            </a:pPr>
            <a:r>
              <a:rPr lang="en-US" sz="17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on all accounts (avoid SMS-based MFA)</a:t>
            </a:r>
            <a:endParaRPr lang="en-US" sz="1600" dirty="0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700" b="1" dirty="0">
                <a:solidFill>
                  <a:srgbClr val="0D73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7.</a:t>
            </a:r>
            <a:pPr>
              <a:lnSpc>
                <a:spcPct val="155000"/>
              </a:lnSpc>
              <a:spcBef>
                <a:spcPts val="600"/>
              </a:spcBef>
            </a:pPr>
            <a:r>
              <a:rPr lang="en-US" sz="17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55000"/>
              </a:lnSpc>
              <a:spcBef>
                <a:spcPts val="600"/>
              </a:spcBef>
            </a:pPr>
            <a:r>
              <a:rPr lang="en-US" sz="17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Keep software updated</a:t>
            </a:r>
            <a:pPr>
              <a:lnSpc>
                <a:spcPct val="155000"/>
              </a:lnSpc>
              <a:spcBef>
                <a:spcPts val="600"/>
              </a:spcBef>
            </a:pPr>
            <a:r>
              <a:rPr lang="en-US" sz="17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latest security patches</a:t>
            </a:r>
            <a:endParaRPr lang="en-US" sz="1600" dirty="0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700" b="1" dirty="0">
                <a:solidFill>
                  <a:srgbClr val="0D73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8.</a:t>
            </a:r>
            <a:pPr>
              <a:lnSpc>
                <a:spcPct val="155000"/>
              </a:lnSpc>
              <a:spcBef>
                <a:spcPts val="600"/>
              </a:spcBef>
            </a:pPr>
            <a:r>
              <a:rPr lang="en-US" sz="17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55000"/>
              </a:lnSpc>
              <a:spcBef>
                <a:spcPts val="600"/>
              </a:spcBef>
            </a:pPr>
            <a:r>
              <a:rPr lang="en-US" sz="17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Reduce personal info</a:t>
            </a:r>
            <a:pPr>
              <a:lnSpc>
                <a:spcPct val="155000"/>
              </a:lnSpc>
              <a:spcBef>
                <a:spcPts val="600"/>
              </a:spcBef>
            </a:pPr>
            <a:r>
              <a:rPr lang="en-US" sz="17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shared publicly online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128000" y="1460500"/>
            <a:ext cx="12700" cy="68580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" name="Text 6"/>
          <p:cNvSpPr/>
          <p:nvPr/>
        </p:nvSpPr>
        <p:spPr>
          <a:xfrm>
            <a:off x="8509000" y="1460500"/>
            <a:ext cx="711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ORGANIZATIONAL MEASURES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509000" y="1968500"/>
            <a:ext cx="7112000" cy="622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5000"/>
              </a:lnSpc>
            </a:pPr>
            <a:r>
              <a:rPr lang="en-US" sz="1700" b="1" dirty="0">
                <a:solidFill>
                  <a:srgbClr val="E85D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</a:t>
            </a:r>
            <a:pPr>
              <a:lnSpc>
                <a:spcPct val="155000"/>
              </a:lnSpc>
            </a:pPr>
            <a:r>
              <a:rPr lang="en-US" sz="17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Deploy </a:t>
            </a:r>
            <a:pPr>
              <a:lnSpc>
                <a:spcPct val="155000"/>
              </a:lnSpc>
            </a:pPr>
            <a:r>
              <a:rPr lang="en-US" sz="17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anti-phishing technology</a:t>
            </a:r>
            <a:pPr>
              <a:lnSpc>
                <a:spcPct val="155000"/>
              </a:lnSpc>
            </a:pPr>
            <a:r>
              <a:rPr lang="en-US" sz="17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DMARC policies</a:t>
            </a:r>
            <a:endParaRPr lang="en-US" sz="1600" dirty="0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700" b="1" dirty="0">
                <a:solidFill>
                  <a:srgbClr val="E85D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</a:t>
            </a:r>
            <a:pPr>
              <a:lnSpc>
                <a:spcPct val="155000"/>
              </a:lnSpc>
              <a:spcBef>
                <a:spcPts val="600"/>
              </a:spcBef>
            </a:pPr>
            <a:r>
              <a:rPr lang="en-US" sz="17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Conduct </a:t>
            </a:r>
            <a:pPr>
              <a:lnSpc>
                <a:spcPct val="155000"/>
              </a:lnSpc>
              <a:spcBef>
                <a:spcPts val="600"/>
              </a:spcBef>
            </a:pPr>
            <a:r>
              <a:rPr lang="en-US" sz="17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regular phishing simulations</a:t>
            </a:r>
            <a:pPr>
              <a:lnSpc>
                <a:spcPct val="155000"/>
              </a:lnSpc>
              <a:spcBef>
                <a:spcPts val="600"/>
              </a:spcBef>
            </a:pPr>
            <a:r>
              <a:rPr lang="en-US" sz="17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training</a:t>
            </a:r>
            <a:endParaRPr lang="en-US" sz="1600" dirty="0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700" b="1" dirty="0">
                <a:solidFill>
                  <a:srgbClr val="E85D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</a:t>
            </a:r>
            <a:pPr>
              <a:lnSpc>
                <a:spcPct val="155000"/>
              </a:lnSpc>
              <a:spcBef>
                <a:spcPts val="600"/>
              </a:spcBef>
            </a:pPr>
            <a:r>
              <a:rPr lang="en-US" sz="17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Establish </a:t>
            </a:r>
            <a:pPr>
              <a:lnSpc>
                <a:spcPct val="155000"/>
              </a:lnSpc>
              <a:spcBef>
                <a:spcPts val="600"/>
              </a:spcBef>
            </a:pPr>
            <a:r>
              <a:rPr lang="en-US" sz="17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clear reporting protocols</a:t>
            </a:r>
            <a:pPr>
              <a:lnSpc>
                <a:spcPct val="155000"/>
              </a:lnSpc>
              <a:spcBef>
                <a:spcPts val="600"/>
              </a:spcBef>
            </a:pPr>
            <a:r>
              <a:rPr lang="en-US" sz="17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suspicious emails</a:t>
            </a:r>
            <a:endParaRPr lang="en-US" sz="1600" dirty="0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700" b="1" dirty="0">
                <a:solidFill>
                  <a:srgbClr val="E85D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</a:t>
            </a:r>
            <a:pPr>
              <a:lnSpc>
                <a:spcPct val="155000"/>
              </a:lnSpc>
              <a:spcBef>
                <a:spcPts val="600"/>
              </a:spcBef>
            </a:pPr>
            <a:r>
              <a:rPr lang="en-US" sz="17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Apply </a:t>
            </a:r>
            <a:pPr>
              <a:lnSpc>
                <a:spcPct val="155000"/>
              </a:lnSpc>
              <a:spcBef>
                <a:spcPts val="600"/>
              </a:spcBef>
            </a:pPr>
            <a:r>
              <a:rPr lang="en-US" sz="17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software updates and patches</a:t>
            </a:r>
            <a:pPr>
              <a:lnSpc>
                <a:spcPct val="155000"/>
              </a:lnSpc>
              <a:spcBef>
                <a:spcPts val="600"/>
              </a:spcBef>
            </a:pPr>
            <a:r>
              <a:rPr lang="en-US" sz="17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promptly</a:t>
            </a:r>
            <a:endParaRPr lang="en-US" sz="1600" dirty="0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700" b="1" dirty="0">
                <a:solidFill>
                  <a:srgbClr val="E85D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5.</a:t>
            </a:r>
            <a:pPr>
              <a:lnSpc>
                <a:spcPct val="155000"/>
              </a:lnSpc>
              <a:spcBef>
                <a:spcPts val="600"/>
              </a:spcBef>
            </a:pPr>
            <a:r>
              <a:rPr lang="en-US" sz="17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Block </a:t>
            </a:r>
            <a:pPr>
              <a:lnSpc>
                <a:spcPct val="155000"/>
              </a:lnSpc>
              <a:spcBef>
                <a:spcPts val="600"/>
              </a:spcBef>
            </a:pPr>
            <a:r>
              <a:rPr lang="en-US" sz="17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known malicious IPs, domains, and file types</a:t>
            </a:r>
            <a:endParaRPr lang="en-US" sz="1600" dirty="0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700" b="1" dirty="0">
                <a:solidFill>
                  <a:srgbClr val="E85D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6.</a:t>
            </a:r>
            <a:pPr>
              <a:lnSpc>
                <a:spcPct val="155000"/>
              </a:lnSpc>
              <a:spcBef>
                <a:spcPts val="600"/>
              </a:spcBef>
            </a:pPr>
            <a:r>
              <a:rPr lang="en-US" sz="17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Use </a:t>
            </a:r>
            <a:pPr>
              <a:lnSpc>
                <a:spcPct val="155000"/>
              </a:lnSpc>
              <a:spcBef>
                <a:spcPts val="600"/>
              </a:spcBef>
            </a:pPr>
            <a:r>
              <a:rPr lang="en-US" sz="17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multi-factor authentication</a:t>
            </a:r>
            <a:pPr>
              <a:lnSpc>
                <a:spcPct val="155000"/>
              </a:lnSpc>
              <a:spcBef>
                <a:spcPts val="600"/>
              </a:spcBef>
            </a:pPr>
            <a:r>
              <a:rPr lang="en-US" sz="17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on all systems</a:t>
            </a:r>
            <a:endParaRPr lang="en-US" sz="1600" dirty="0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700" b="1" dirty="0">
                <a:solidFill>
                  <a:srgbClr val="E85D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7.</a:t>
            </a:r>
            <a:pPr>
              <a:lnSpc>
                <a:spcPct val="155000"/>
              </a:lnSpc>
              <a:spcBef>
                <a:spcPts val="600"/>
              </a:spcBef>
            </a:pPr>
            <a:r>
              <a:rPr lang="en-US" sz="17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Maintain </a:t>
            </a:r>
            <a:pPr>
              <a:lnSpc>
                <a:spcPct val="155000"/>
              </a:lnSpc>
              <a:spcBef>
                <a:spcPts val="600"/>
              </a:spcBef>
            </a:pPr>
            <a:r>
              <a:rPr lang="en-US" sz="17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regular data backups</a:t>
            </a:r>
            <a:pPr>
              <a:lnSpc>
                <a:spcPct val="155000"/>
              </a:lnSpc>
              <a:spcBef>
                <a:spcPts val="600"/>
              </a:spcBef>
            </a:pPr>
            <a:r>
              <a:rPr lang="en-US" sz="17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offline</a:t>
            </a:r>
            <a:endParaRPr lang="en-US" sz="1600" dirty="0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700" b="1" dirty="0">
                <a:solidFill>
                  <a:srgbClr val="E85D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8.</a:t>
            </a:r>
            <a:pPr>
              <a:lnSpc>
                <a:spcPct val="155000"/>
              </a:lnSpc>
              <a:spcBef>
                <a:spcPts val="600"/>
              </a:spcBef>
            </a:pPr>
            <a:r>
              <a:rPr lang="en-US" sz="17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Update </a:t>
            </a:r>
            <a:pPr>
              <a:lnSpc>
                <a:spcPct val="155000"/>
              </a:lnSpc>
              <a:spcBef>
                <a:spcPts val="600"/>
              </a:spcBef>
            </a:pPr>
            <a:r>
              <a:rPr lang="en-US" sz="17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incident response plans</a:t>
            </a:r>
            <a:pPr>
              <a:lnSpc>
                <a:spcPct val="155000"/>
              </a:lnSpc>
              <a:spcBef>
                <a:spcPts val="600"/>
              </a:spcBef>
            </a:pPr>
            <a:r>
              <a:rPr lang="en-US" sz="17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phishing events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8445500"/>
            <a:ext cx="10160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4A556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Sources: </a:t>
            </a:r>
            <a:pPr>
              <a:lnSpc>
                <a:spcPct val="140000"/>
              </a:lnSpc>
            </a:pPr>
            <a:r>
              <a:rPr lang="en-US" sz="1400" u="sng" dirty="0">
                <a:solidFill>
                  <a:srgbClr val="4A556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  <a:hlinkClick r:id="rId1" tooltip="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Canadian Centre for Cyber Security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4A556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</a:t>
            </a:r>
            <a:pPr>
              <a:lnSpc>
                <a:spcPct val="140000"/>
              </a:lnSpc>
            </a:pPr>
            <a:r>
              <a:rPr lang="en-US" sz="1400" u="sng" dirty="0">
                <a:solidFill>
                  <a:srgbClr val="4A556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  <a:hlinkClick r:id="rId2" tooltip="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Microsoft Security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986000" y="8636000"/>
            <a:ext cx="76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4A556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15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800" cy="91440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571500"/>
            <a:ext cx="1143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to Do If You Fall Victim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270000"/>
            <a:ext cx="635000" cy="381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524000"/>
            <a:ext cx="1473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A1A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If you suspect you've been phished, act immediately. Every minute counts in limiting the damage.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62000" y="2540000"/>
            <a:ext cx="508000" cy="508000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7" name="Text 5"/>
          <p:cNvSpPr/>
          <p:nvPr/>
        </p:nvSpPr>
        <p:spPr>
          <a:xfrm>
            <a:off x="762000" y="25400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60500" y="2540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Document Everything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60500" y="2984500"/>
            <a:ext cx="609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Write down what you clicked and what information you shared while it's fresh.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62000" y="3810000"/>
            <a:ext cx="508000" cy="508000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11" name="Text 9"/>
          <p:cNvSpPr/>
          <p:nvPr/>
        </p:nvSpPr>
        <p:spPr>
          <a:xfrm>
            <a:off x="762000" y="38100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60500" y="3810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Change Passwords Immediately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60500" y="4254500"/>
            <a:ext cx="609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Update passwords on all affected accounts and anywhere you reused them.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2000" y="5080000"/>
            <a:ext cx="508000" cy="508000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15" name="Text 13"/>
          <p:cNvSpPr/>
          <p:nvPr/>
        </p:nvSpPr>
        <p:spPr>
          <a:xfrm>
            <a:off x="762000" y="50800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60500" y="5080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Enable or Verify MFA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60500" y="5524500"/>
            <a:ext cx="6096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Turn on multi-factor authentication on every account possible.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382000" y="2540000"/>
            <a:ext cx="508000" cy="508000"/>
          </a:xfrm>
          <a:prstGeom prst="ellipse">
            <a:avLst/>
          </a:prstGeom>
          <a:solidFill>
            <a:srgbClr val="E85D4E"/>
          </a:solidFill>
          <a:ln/>
        </p:spPr>
      </p:sp>
      <p:sp>
        <p:nvSpPr>
          <p:cNvPr id="19" name="Text 17"/>
          <p:cNvSpPr/>
          <p:nvPr/>
        </p:nvSpPr>
        <p:spPr>
          <a:xfrm>
            <a:off x="8382000" y="25400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080500" y="2540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Notify IT / Security Team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080500" y="2984500"/>
            <a:ext cx="609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Alert your organization's security team immediately if work accounts are affected.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382000" y="3810000"/>
            <a:ext cx="508000" cy="508000"/>
          </a:xfrm>
          <a:prstGeom prst="ellipse">
            <a:avLst/>
          </a:prstGeom>
          <a:solidFill>
            <a:srgbClr val="E85D4E"/>
          </a:solidFill>
          <a:ln/>
        </p:spPr>
      </p:sp>
      <p:sp>
        <p:nvSpPr>
          <p:cNvPr id="23" name="Text 21"/>
          <p:cNvSpPr/>
          <p:nvPr/>
        </p:nvSpPr>
        <p:spPr>
          <a:xfrm>
            <a:off x="8382000" y="38100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080500" y="3810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Contact Financial Institutions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080500" y="4254500"/>
            <a:ext cx="609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Alert banks and credit card companies if financial data was compromised.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382000" y="5080000"/>
            <a:ext cx="508000" cy="508000"/>
          </a:xfrm>
          <a:prstGeom prst="ellipse">
            <a:avLst/>
          </a:prstGeom>
          <a:solidFill>
            <a:srgbClr val="E85D4E"/>
          </a:solidFill>
          <a:ln/>
        </p:spPr>
      </p:sp>
      <p:sp>
        <p:nvSpPr>
          <p:cNvPr id="27" name="Text 25"/>
          <p:cNvSpPr/>
          <p:nvPr/>
        </p:nvSpPr>
        <p:spPr>
          <a:xfrm>
            <a:off x="8382000" y="50800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080500" y="5080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1A1A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Report to Authorities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080500" y="5524500"/>
            <a:ext cx="6096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4A556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Report identity theft or financial loss to local law enforcement.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62000" y="6477000"/>
            <a:ext cx="14732000" cy="1524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1" name="Shape 29"/>
          <p:cNvSpPr/>
          <p:nvPr/>
        </p:nvSpPr>
        <p:spPr>
          <a:xfrm>
            <a:off x="1143000" y="6858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6278" y="2590"/>
                </a:moveTo>
                <a:cubicBezTo>
                  <a:pt x="222528" y="893"/>
                  <a:pt x="218509" y="0"/>
                  <a:pt x="214313" y="0"/>
                </a:cubicBezTo>
                <a:cubicBezTo>
                  <a:pt x="210116" y="0"/>
                  <a:pt x="206097" y="893"/>
                  <a:pt x="202347" y="2590"/>
                </a:cubicBezTo>
                <a:lnTo>
                  <a:pt x="34201" y="73938"/>
                </a:lnTo>
                <a:cubicBezTo>
                  <a:pt x="14555" y="82242"/>
                  <a:pt x="-89" y="101620"/>
                  <a:pt x="0" y="125016"/>
                </a:cubicBezTo>
                <a:cubicBezTo>
                  <a:pt x="446" y="213598"/>
                  <a:pt x="36880" y="375672"/>
                  <a:pt x="190738" y="449342"/>
                </a:cubicBezTo>
                <a:cubicBezTo>
                  <a:pt x="205651" y="456486"/>
                  <a:pt x="222974" y="456486"/>
                  <a:pt x="237887" y="449342"/>
                </a:cubicBezTo>
                <a:cubicBezTo>
                  <a:pt x="391835" y="375672"/>
                  <a:pt x="428268" y="213598"/>
                  <a:pt x="428625" y="125016"/>
                </a:cubicBezTo>
                <a:cubicBezTo>
                  <a:pt x="428714" y="101620"/>
                  <a:pt x="414070" y="82242"/>
                  <a:pt x="394424" y="73938"/>
                </a:cubicBezTo>
                <a:lnTo>
                  <a:pt x="226278" y="2590"/>
                </a:lnTo>
                <a:close/>
                <a:moveTo>
                  <a:pt x="214313" y="114300"/>
                </a:moveTo>
                <a:cubicBezTo>
                  <a:pt x="226189" y="114300"/>
                  <a:pt x="235744" y="123855"/>
                  <a:pt x="235744" y="135731"/>
                </a:cubicBezTo>
                <a:cubicBezTo>
                  <a:pt x="235744" y="156180"/>
                  <a:pt x="260479" y="166449"/>
                  <a:pt x="274945" y="151983"/>
                </a:cubicBezTo>
                <a:cubicBezTo>
                  <a:pt x="283339" y="143589"/>
                  <a:pt x="296912" y="143589"/>
                  <a:pt x="305217" y="151983"/>
                </a:cubicBezTo>
                <a:cubicBezTo>
                  <a:pt x="313521" y="160377"/>
                  <a:pt x="313611" y="173950"/>
                  <a:pt x="305217" y="182255"/>
                </a:cubicBezTo>
                <a:cubicBezTo>
                  <a:pt x="290751" y="196721"/>
                  <a:pt x="301020" y="221456"/>
                  <a:pt x="321469" y="221456"/>
                </a:cubicBezTo>
                <a:cubicBezTo>
                  <a:pt x="333345" y="221456"/>
                  <a:pt x="342900" y="231011"/>
                  <a:pt x="342900" y="242888"/>
                </a:cubicBezTo>
                <a:cubicBezTo>
                  <a:pt x="342900" y="254764"/>
                  <a:pt x="333345" y="264319"/>
                  <a:pt x="321469" y="264319"/>
                </a:cubicBezTo>
                <a:cubicBezTo>
                  <a:pt x="301020" y="264319"/>
                  <a:pt x="290751" y="289054"/>
                  <a:pt x="305217" y="303520"/>
                </a:cubicBezTo>
                <a:cubicBezTo>
                  <a:pt x="313611" y="311914"/>
                  <a:pt x="313611" y="325487"/>
                  <a:pt x="305217" y="333792"/>
                </a:cubicBezTo>
                <a:cubicBezTo>
                  <a:pt x="296823" y="342096"/>
                  <a:pt x="283250" y="342186"/>
                  <a:pt x="274945" y="333792"/>
                </a:cubicBezTo>
                <a:cubicBezTo>
                  <a:pt x="260479" y="319326"/>
                  <a:pt x="235744" y="329595"/>
                  <a:pt x="235744" y="350044"/>
                </a:cubicBezTo>
                <a:cubicBezTo>
                  <a:pt x="235744" y="361920"/>
                  <a:pt x="226189" y="371475"/>
                  <a:pt x="214313" y="371475"/>
                </a:cubicBezTo>
                <a:cubicBezTo>
                  <a:pt x="202436" y="371475"/>
                  <a:pt x="192881" y="361920"/>
                  <a:pt x="192881" y="350044"/>
                </a:cubicBezTo>
                <a:cubicBezTo>
                  <a:pt x="192881" y="329595"/>
                  <a:pt x="168146" y="319326"/>
                  <a:pt x="153680" y="333792"/>
                </a:cubicBezTo>
                <a:cubicBezTo>
                  <a:pt x="145286" y="342186"/>
                  <a:pt x="131713" y="342186"/>
                  <a:pt x="123408" y="333792"/>
                </a:cubicBezTo>
                <a:cubicBezTo>
                  <a:pt x="115104" y="325398"/>
                  <a:pt x="115014" y="311825"/>
                  <a:pt x="123408" y="303520"/>
                </a:cubicBezTo>
                <a:cubicBezTo>
                  <a:pt x="137874" y="289054"/>
                  <a:pt x="127605" y="264319"/>
                  <a:pt x="107156" y="264319"/>
                </a:cubicBezTo>
                <a:cubicBezTo>
                  <a:pt x="95280" y="264319"/>
                  <a:pt x="85725" y="254764"/>
                  <a:pt x="85725" y="242888"/>
                </a:cubicBezTo>
                <a:cubicBezTo>
                  <a:pt x="85725" y="231011"/>
                  <a:pt x="95280" y="221456"/>
                  <a:pt x="107156" y="221456"/>
                </a:cubicBezTo>
                <a:cubicBezTo>
                  <a:pt x="127605" y="221456"/>
                  <a:pt x="137874" y="196721"/>
                  <a:pt x="123408" y="182255"/>
                </a:cubicBezTo>
                <a:cubicBezTo>
                  <a:pt x="115014" y="173861"/>
                  <a:pt x="115014" y="160288"/>
                  <a:pt x="123408" y="151983"/>
                </a:cubicBezTo>
                <a:cubicBezTo>
                  <a:pt x="131802" y="143679"/>
                  <a:pt x="145375" y="143589"/>
                  <a:pt x="153680" y="151983"/>
                </a:cubicBezTo>
                <a:cubicBezTo>
                  <a:pt x="168146" y="166449"/>
                  <a:pt x="192881" y="156180"/>
                  <a:pt x="192881" y="135731"/>
                </a:cubicBezTo>
                <a:cubicBezTo>
                  <a:pt x="192881" y="123855"/>
                  <a:pt x="202436" y="114300"/>
                  <a:pt x="214313" y="114300"/>
                </a:cubicBezTo>
                <a:close/>
                <a:moveTo>
                  <a:pt x="185738" y="235744"/>
                </a:moveTo>
                <a:cubicBezTo>
                  <a:pt x="197566" y="235744"/>
                  <a:pt x="207169" y="226141"/>
                  <a:pt x="207169" y="214313"/>
                </a:cubicBezTo>
                <a:cubicBezTo>
                  <a:pt x="207169" y="202484"/>
                  <a:pt x="197566" y="192881"/>
                  <a:pt x="185738" y="192881"/>
                </a:cubicBezTo>
                <a:cubicBezTo>
                  <a:pt x="173909" y="192881"/>
                  <a:pt x="164306" y="202484"/>
                  <a:pt x="164306" y="214313"/>
                </a:cubicBezTo>
                <a:cubicBezTo>
                  <a:pt x="164306" y="226141"/>
                  <a:pt x="173909" y="235744"/>
                  <a:pt x="185738" y="235744"/>
                </a:cubicBezTo>
                <a:close/>
                <a:moveTo>
                  <a:pt x="264319" y="271463"/>
                </a:moveTo>
                <a:cubicBezTo>
                  <a:pt x="264319" y="259634"/>
                  <a:pt x="254716" y="250031"/>
                  <a:pt x="242888" y="250031"/>
                </a:cubicBezTo>
                <a:cubicBezTo>
                  <a:pt x="231059" y="250031"/>
                  <a:pt x="221456" y="259634"/>
                  <a:pt x="221456" y="271463"/>
                </a:cubicBezTo>
                <a:cubicBezTo>
                  <a:pt x="221456" y="283291"/>
                  <a:pt x="231059" y="292894"/>
                  <a:pt x="242888" y="292894"/>
                </a:cubicBezTo>
                <a:cubicBezTo>
                  <a:pt x="254716" y="292894"/>
                  <a:pt x="264319" y="283291"/>
                  <a:pt x="264319" y="271463"/>
                </a:cubicBezTo>
                <a:close/>
              </a:path>
            </a:pathLst>
          </a:custGeom>
          <a:solidFill>
            <a:srgbClr val="0D7377"/>
          </a:solidFill>
          <a:ln/>
        </p:spPr>
      </p:sp>
      <p:sp>
        <p:nvSpPr>
          <p:cNvPr id="32" name="Text 30"/>
          <p:cNvSpPr/>
          <p:nvPr/>
        </p:nvSpPr>
        <p:spPr>
          <a:xfrm>
            <a:off x="1841500" y="6794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Additional Steps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143000" y="7302500"/>
            <a:ext cx="1397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Run a full security scan. Disconnect from the network if malware is suspected. Monitor all accounts closely for unauthorized activity.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4986000" y="8636000"/>
            <a:ext cx="76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4A556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16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800" cy="91440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508000"/>
            <a:ext cx="1143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0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Quick Quiz: Can You Spot the Phish?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62000" y="1206500"/>
            <a:ext cx="635000" cy="381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460500"/>
            <a:ext cx="4699000" cy="3302000"/>
          </a:xfrm>
          <a:prstGeom prst="rect">
            <a:avLst/>
          </a:prstGeom>
          <a:solidFill>
            <a:srgbClr val="E8E8E3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460500"/>
            <a:ext cx="50800" cy="3302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1587500"/>
            <a:ext cx="1397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100" kern="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SCENARIO 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1968500"/>
            <a:ext cx="4191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You get an email from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security@amaz0n-support.com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saying your account will be suspended in 24 hours.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16000" y="3238500"/>
            <a:ext cx="4191000" cy="571500"/>
          </a:xfrm>
          <a:prstGeom prst="rect">
            <a:avLst/>
          </a:prstGeom>
          <a:solidFill>
            <a:srgbClr val="E85D4E">
              <a:alpha val="12549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3238500"/>
            <a:ext cx="3937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E85D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A.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E85D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Click the link and log in immediately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016000" y="3937000"/>
            <a:ext cx="4191000" cy="762000"/>
          </a:xfrm>
          <a:prstGeom prst="rect">
            <a:avLst/>
          </a:prstGeom>
          <a:solidFill>
            <a:srgbClr val="0D7377">
              <a:alpha val="12549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143000" y="3937000"/>
            <a:ext cx="3937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0D73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B.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0D73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Check domain, ignore urgency, log in via amazon.com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778500" y="1460500"/>
            <a:ext cx="4699000" cy="3302000"/>
          </a:xfrm>
          <a:prstGeom prst="rect">
            <a:avLst/>
          </a:prstGeom>
          <a:solidFill>
            <a:srgbClr val="E8E8E3"/>
          </a:solidFill>
          <a:ln/>
        </p:spPr>
      </p:sp>
      <p:sp>
        <p:nvSpPr>
          <p:cNvPr id="14" name="Shape 12"/>
          <p:cNvSpPr/>
          <p:nvPr/>
        </p:nvSpPr>
        <p:spPr>
          <a:xfrm>
            <a:off x="5778500" y="1460500"/>
            <a:ext cx="50800" cy="3302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5" name="Text 13"/>
          <p:cNvSpPr/>
          <p:nvPr/>
        </p:nvSpPr>
        <p:spPr>
          <a:xfrm>
            <a:off x="6032500" y="1587500"/>
            <a:ext cx="1397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100" kern="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SCENARIO 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032500" y="1968500"/>
            <a:ext cx="4191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LinkedIn message from a recruiter asks you to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download a file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"view job details."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032500" y="3238500"/>
            <a:ext cx="4191000" cy="571500"/>
          </a:xfrm>
          <a:prstGeom prst="rect">
            <a:avLst/>
          </a:prstGeom>
          <a:solidFill>
            <a:srgbClr val="E85D4E">
              <a:alpha val="12549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6159500" y="3238500"/>
            <a:ext cx="3937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E85D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A.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E85D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Download and open the file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032500" y="3937000"/>
            <a:ext cx="4191000" cy="762000"/>
          </a:xfrm>
          <a:prstGeom prst="rect">
            <a:avLst/>
          </a:prstGeom>
          <a:solidFill>
            <a:srgbClr val="0D7377">
              <a:alpha val="12549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6159500" y="3937000"/>
            <a:ext cx="3937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0D73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B.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0D73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Verify profile and ask for details via official channels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0795000" y="1460500"/>
            <a:ext cx="4699000" cy="3302000"/>
          </a:xfrm>
          <a:prstGeom prst="rect">
            <a:avLst/>
          </a:prstGeom>
          <a:solidFill>
            <a:srgbClr val="E8E8E3"/>
          </a:solidFill>
          <a:ln/>
        </p:spPr>
      </p:sp>
      <p:sp>
        <p:nvSpPr>
          <p:cNvPr id="22" name="Shape 20"/>
          <p:cNvSpPr/>
          <p:nvPr/>
        </p:nvSpPr>
        <p:spPr>
          <a:xfrm>
            <a:off x="10795000" y="1460500"/>
            <a:ext cx="50800" cy="3302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3" name="Text 21"/>
          <p:cNvSpPr/>
          <p:nvPr/>
        </p:nvSpPr>
        <p:spPr>
          <a:xfrm>
            <a:off x="11049000" y="1587500"/>
            <a:ext cx="1397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spc="100" kern="0" dirty="0">
                <a:solidFill>
                  <a:srgbClr val="D9770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SCENARIO 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049000" y="1968500"/>
            <a:ext cx="4191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Your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"CEO"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A1A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emails you at 2 AM asking for urgent gift card purchases.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1049000" y="3238500"/>
            <a:ext cx="4191000" cy="571500"/>
          </a:xfrm>
          <a:prstGeom prst="rect">
            <a:avLst/>
          </a:prstGeom>
          <a:solidFill>
            <a:srgbClr val="E85D4E">
              <a:alpha val="12549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11176000" y="3238500"/>
            <a:ext cx="3937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E85D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A.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E85D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Buy the gift cards immediately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1049000" y="3937000"/>
            <a:ext cx="4191000" cy="762000"/>
          </a:xfrm>
          <a:prstGeom prst="rect">
            <a:avLst/>
          </a:prstGeom>
          <a:solidFill>
            <a:srgbClr val="0D7377">
              <a:alpha val="12549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11176000" y="3937000"/>
            <a:ext cx="3937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0D73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B.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0D73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Verify via separate channel and follow protocols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62000" y="5080000"/>
            <a:ext cx="14732000" cy="27940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0" name="Text 28"/>
          <p:cNvSpPr/>
          <p:nvPr/>
        </p:nvSpPr>
        <p:spPr>
          <a:xfrm>
            <a:off x="1143000" y="52705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ANSWERS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143000" y="5778500"/>
            <a:ext cx="13970000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0D73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Scenario 1 — B is correct.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 domain "amaz0n-support.com" is misspelled. Always log in directly via the official website, never through email links.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0D73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Scenario 2 — B is correct.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Unexpected file downloads are a major malware vector. Verify the recruiter's legitimacy through official channels first.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0D737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Scenario 3 — B is correct.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This is a classic whaling/BEC attack. CEOs don't request gift cards at 2 AM. Always verify unusual financial requests.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4986000" y="8636000"/>
            <a:ext cx="76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4A5568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17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ambyjsecdlbwi/mnt/agents/output/phishing-awareness/images/6_Futuristic_cybersecurity_shield_concept.png">    </p:cNvPr>
          <p:cNvPicPr>
            <a:picLocks noChangeAspect="1"/>
          </p:cNvPicPr>
          <p:nvPr/>
        </p:nvPicPr>
        <p:blipFill>
          <a:blip r:embed="rId1"/>
          <a:srcRect l="5840" r="5840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A1A2E">
                  <a:alpha val="25000"/>
                </a:srgbClr>
              </a:gs>
              <a:gs pos="40000">
                <a:srgbClr val="1A1A2E">
                  <a:alpha val="80000"/>
                </a:srgbClr>
              </a:gs>
              <a:gs pos="100000">
                <a:srgbClr val="1A1A2E">
                  <a:alpha val="94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778000" y="25400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spc="200" kern="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REMEMBER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778000" y="3048000"/>
            <a:ext cx="10160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sz="5600" spc="5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STAY ALERT.</a:t>
            </a:r>
            <a:endParaRPr lang="en-US" sz="5200" dirty="0"/>
          </a:p>
          <a:p>
            <a:pPr>
              <a:lnSpc>
                <a:spcPct val="120000"/>
              </a:lnSpc>
            </a:pPr>
            <a:r>
              <a:rPr lang="en-US" sz="5600" spc="5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STAY SAFE.</a:t>
            </a:r>
            <a:endParaRPr lang="en-US" sz="5200" dirty="0"/>
          </a:p>
        </p:txBody>
      </p:sp>
      <p:sp>
        <p:nvSpPr>
          <p:cNvPr id="6" name="Shape 3"/>
          <p:cNvSpPr/>
          <p:nvPr/>
        </p:nvSpPr>
        <p:spPr>
          <a:xfrm>
            <a:off x="1778000" y="5016500"/>
            <a:ext cx="1016000" cy="508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7" name="Text 4"/>
          <p:cNvSpPr/>
          <p:nvPr/>
        </p:nvSpPr>
        <p:spPr>
          <a:xfrm>
            <a:off x="1778000" y="5270500"/>
            <a:ext cx="88900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FFFFFF">
                    <a:alpha val="8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When in doubt, don't click.</a:t>
            </a:r>
            <a:endParaRPr lang="en-US" sz="2200" dirty="0"/>
          </a:p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FFFFFF">
                    <a:alpha val="8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Verify independently.</a:t>
            </a:r>
            <a:endParaRPr lang="en-US" sz="2200" dirty="0"/>
          </a:p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FFFFFF">
                    <a:alpha val="8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Report suspicious messages.</a:t>
            </a:r>
            <a:endParaRPr lang="en-US" sz="2200" dirty="0"/>
          </a:p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FFFFFF">
                    <a:alpha val="80000"/>
                  </a:srgbClr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Cybersecurity is a shared responsibility.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1778000" y="7620000"/>
            <a:ext cx="2794000" cy="571500"/>
          </a:xfrm>
          <a:prstGeom prst="roundRect">
            <a:avLst>
              <a:gd name="adj" fmla="val 8000"/>
            </a:avLst>
          </a:prstGeom>
          <a:solidFill>
            <a:srgbClr val="0D7377"/>
          </a:solidFill>
          <a:ln/>
        </p:spPr>
      </p:sp>
      <p:sp>
        <p:nvSpPr>
          <p:cNvPr id="9" name="Text 6"/>
          <p:cNvSpPr/>
          <p:nvPr/>
        </p:nvSpPr>
        <p:spPr>
          <a:xfrm>
            <a:off x="1778000" y="7620000"/>
            <a:ext cx="2794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spc="2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THANK YOU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Phishing Awareness: Don't Take the Bait</dc:title>
  <dc:subject>Phishing Awareness: Don't Take the Bait</dc:subject>
  <dc:creator>Kimi</dc:creator>
  <cp:lastModifiedBy>Kimi</cp:lastModifiedBy>
  <cp:revision>1</cp:revision>
  <dcterms:created xsi:type="dcterms:W3CDTF">2026-04-29T17:26:19Z</dcterms:created>
  <dcterms:modified xsi:type="dcterms:W3CDTF">2026-04-29T17:26:19Z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{"Label":"Phishing Awareness: Don't Take the Bait","ContentProducer":"001191110108MACG2KBH8F10000","ProduceID":"19dda41b-f582-861c-8000-000088c45bc4","ReservedCode1":"","ContentPropagator":"001191110108MACG2KBH8F20000","PropagateID":"19dda41b-f582-861c-8000-000088c45bc4","ReservedCode2":""}</vt:lpwstr>
  </property>
</Properties>
</file>